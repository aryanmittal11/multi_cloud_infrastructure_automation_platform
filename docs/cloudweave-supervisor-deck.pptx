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57200"/>
            <a:ext cx="310896" cy="310896"/>
          </a:xfrm>
          <a:prstGeom prst="roundRect">
            <a:avLst>
              <a:gd name="adj" fmla="val 2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onut 3"/>
          <p:cNvSpPr/>
          <p:nvPr/>
        </p:nvSpPr>
        <p:spPr>
          <a:xfrm>
            <a:off x="571500" y="525780"/>
            <a:ext cx="173736" cy="173736"/>
          </a:xfrm>
          <a:prstGeom prst="donut">
            <a:avLst>
              <a:gd name="adj" fmla="val 30000"/>
            </a:avLst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90372" y="525780"/>
            <a:ext cx="68580" cy="685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19963" y="574243"/>
            <a:ext cx="76809" cy="76809"/>
          </a:xfrm>
          <a:prstGeom prst="ellips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3544" y="438912"/>
            <a:ext cx="23774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FAFAFA"/>
                </a:solidFill>
                <a:latin typeface="Inter"/>
              </a:rPr>
              <a:t>cloudweave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78240" y="502920"/>
            <a:ext cx="1741474" cy="256032"/>
          </a:xfrm>
          <a:prstGeom prst="roundRect">
            <a:avLst>
              <a:gd name="adj" fmla="val 50000"/>
            </a:avLst>
          </a:prstGeom>
          <a:solidFill>
            <a:srgbClr val="141414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8" rIns="64008" tIns="0" bIns="0"/>
          <a:lstStyle/>
          <a:p>
            <a:pPr algn="ctr"/>
            <a:r>
              <a:rPr sz="950" b="1">
                <a:solidFill>
                  <a:srgbClr val="4AD98A"/>
                </a:solidFill>
                <a:latin typeface="Consolas"/>
              </a:rPr>
              <a:t>●  LIVE DEMO READY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847088"/>
            <a:ext cx="100584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4000" b="1">
                <a:solidFill>
                  <a:srgbClr val="FAFAFA"/>
                </a:solidFill>
                <a:latin typeface="Inter"/>
              </a:rPr>
              <a:t>A centralized multi-cloud provisioning</a:t>
            </a:r>
          </a:p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4000" b="1">
                <a:solidFill>
                  <a:srgbClr val="FAFAFA"/>
                </a:solidFill>
                <a:latin typeface="Inter"/>
              </a:rPr>
              <a:t>and management engine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310128"/>
            <a:ext cx="84124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1">
                <a:solidFill>
                  <a:srgbClr val="FAFAFA"/>
                </a:solidFill>
                <a:latin typeface="Inter"/>
              </a:rPr>
              <a:t>cloudweave</a:t>
            </a:r>
            <a:r>
              <a:rPr sz="1400" b="0">
                <a:solidFill>
                  <a:srgbClr val="A3A3A8"/>
                </a:solidFill>
                <a:latin typeface="Inter"/>
              </a:rPr>
              <a:t>  turns AWS, Azure, and GCP into one governed control plane — design visually, </a:t>
            </a:r>
            <a:r>
              <a:rPr sz="1400" b="0">
                <a:solidFill>
                  <a:srgbClr val="A3A3A8"/>
                </a:solidFill>
                <a:latin typeface="Inter"/>
              </a:rPr>
              <a:t>plan with policy guardrails, approve with receipts, operate with full memory.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4224528"/>
            <a:ext cx="751179" cy="256032"/>
          </a:xfrm>
          <a:prstGeom prst="roundRect">
            <a:avLst>
              <a:gd name="adj" fmla="val 50000"/>
            </a:avLst>
          </a:prstGeom>
          <a:solidFill>
            <a:srgbClr val="1C1C1C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8" rIns="64008" tIns="0" bIns="0"/>
          <a:lstStyle/>
          <a:p>
            <a:pPr algn="ctr"/>
            <a:r>
              <a:rPr sz="950" b="1">
                <a:solidFill>
                  <a:srgbClr val="FAFAFA"/>
                </a:solidFill>
                <a:latin typeface="Consolas"/>
              </a:rPr>
              <a:t>design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10131" y="4206240"/>
            <a:ext cx="228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6B6B72"/>
                </a:solidFill>
                <a:latin typeface="Inter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784451" y="4224528"/>
            <a:ext cx="586130" cy="256032"/>
          </a:xfrm>
          <a:prstGeom prst="roundRect">
            <a:avLst>
              <a:gd name="adj" fmla="val 50000"/>
            </a:avLst>
          </a:prstGeom>
          <a:solidFill>
            <a:srgbClr val="1C1C1C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8" rIns="64008" tIns="0" bIns="0"/>
          <a:lstStyle/>
          <a:p>
            <a:pPr algn="ctr"/>
            <a:r>
              <a:rPr sz="950" b="1">
                <a:solidFill>
                  <a:srgbClr val="A3A3A8"/>
                </a:solidFill>
                <a:latin typeface="Consolas"/>
              </a:rPr>
              <a:t>plan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26613" y="4206240"/>
            <a:ext cx="228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6B6B72"/>
                </a:solidFill>
                <a:latin typeface="Inter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900933" y="4224528"/>
            <a:ext cx="751179" cy="256032"/>
          </a:xfrm>
          <a:prstGeom prst="roundRect">
            <a:avLst>
              <a:gd name="adj" fmla="val 50000"/>
            </a:avLst>
          </a:prstGeom>
          <a:solidFill>
            <a:srgbClr val="1C1C1C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8" rIns="64008" tIns="0" bIns="0"/>
          <a:lstStyle/>
          <a:p>
            <a:pPr algn="ctr"/>
            <a:r>
              <a:rPr sz="950" b="1">
                <a:solidFill>
                  <a:srgbClr val="A3A3A8"/>
                </a:solidFill>
                <a:latin typeface="Consolas"/>
              </a:rPr>
              <a:t>policy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08144" y="4206240"/>
            <a:ext cx="228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6B6B72"/>
                </a:solidFill>
                <a:latin typeface="Inter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82464" y="4224528"/>
            <a:ext cx="833704" cy="256032"/>
          </a:xfrm>
          <a:prstGeom prst="roundRect">
            <a:avLst>
              <a:gd name="adj" fmla="val 50000"/>
            </a:avLst>
          </a:prstGeom>
          <a:solidFill>
            <a:srgbClr val="1C1C1C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8" rIns="64008" tIns="0" bIns="0"/>
          <a:lstStyle/>
          <a:p>
            <a:pPr algn="ctr"/>
            <a:r>
              <a:rPr sz="950" b="1">
                <a:solidFill>
                  <a:srgbClr val="A3A3A8"/>
                </a:solidFill>
                <a:latin typeface="Consolas"/>
              </a:rPr>
              <a:t>approve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72200" y="4206240"/>
            <a:ext cx="228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6B6B72"/>
                </a:solidFill>
                <a:latin typeface="Inter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546520" y="4224528"/>
            <a:ext cx="668655" cy="256032"/>
          </a:xfrm>
          <a:prstGeom prst="roundRect">
            <a:avLst>
              <a:gd name="adj" fmla="val 50000"/>
            </a:avLst>
          </a:prstGeom>
          <a:solidFill>
            <a:srgbClr val="1C1C1C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8" rIns="64008" tIns="0" bIns="0"/>
          <a:lstStyle/>
          <a:p>
            <a:pPr algn="ctr"/>
            <a:r>
              <a:rPr sz="950" b="1">
                <a:solidFill>
                  <a:srgbClr val="A3A3A8"/>
                </a:solidFill>
                <a:latin typeface="Consolas"/>
              </a:rPr>
              <a:t>apply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1207" y="4206240"/>
            <a:ext cx="228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6B6B72"/>
                </a:solidFill>
                <a:latin typeface="Inter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745527" y="4224528"/>
            <a:ext cx="833704" cy="256032"/>
          </a:xfrm>
          <a:prstGeom prst="roundRect">
            <a:avLst>
              <a:gd name="adj" fmla="val 50000"/>
            </a:avLst>
          </a:prstGeom>
          <a:solidFill>
            <a:srgbClr val="1C1C1C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8" rIns="64008" tIns="0" bIns="0"/>
          <a:lstStyle/>
          <a:p>
            <a:pPr algn="ctr"/>
            <a:r>
              <a:rPr sz="950" b="1">
                <a:solidFill>
                  <a:srgbClr val="FAFAFA"/>
                </a:solidFill>
                <a:latin typeface="Consolas"/>
              </a:rPr>
              <a:t>operate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4956048"/>
            <a:ext cx="11183112" cy="1298448"/>
          </a:xfrm>
          <a:prstGeom prst="roundRect">
            <a:avLst>
              <a:gd name="adj" fmla="val 10000"/>
            </a:avLst>
          </a:prstGeom>
          <a:solidFill>
            <a:srgbClr val="141414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5138928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1">
                <a:solidFill>
                  <a:srgbClr val="A3A3A8"/>
                </a:solidFill>
                <a:latin typeface="Consolas"/>
              </a:rPr>
              <a:t>GROUP NO. 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468112"/>
            <a:ext cx="106070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FAFAFA"/>
                </a:solidFill>
                <a:latin typeface="Inter"/>
              </a:rPr>
              <a:t>Vidhan Gupta </a:t>
            </a:r>
            <a:r>
              <a:rPr sz="1100" b="0">
                <a:solidFill>
                  <a:srgbClr val="6B6B72"/>
                </a:solidFill>
                <a:latin typeface="Consolas"/>
              </a:rPr>
              <a:t>23BSA10043</a:t>
            </a:r>
            <a:r>
              <a:rPr sz="1300" b="1">
                <a:solidFill>
                  <a:srgbClr val="FAFAFA"/>
                </a:solidFill>
                <a:latin typeface="Inter"/>
              </a:rPr>
              <a:t>    ·    Aryan </a:t>
            </a:r>
            <a:r>
              <a:rPr sz="1100" b="0">
                <a:solidFill>
                  <a:srgbClr val="6B6B72"/>
                </a:solidFill>
                <a:latin typeface="Consolas"/>
              </a:rPr>
              <a:t>23BSA10041</a:t>
            </a:r>
            <a:r>
              <a:rPr sz="1300" b="1">
                <a:solidFill>
                  <a:srgbClr val="FAFAFA"/>
                </a:solidFill>
                <a:latin typeface="Inter"/>
              </a:rPr>
              <a:t>    ·    Anshul Bari </a:t>
            </a:r>
            <a:r>
              <a:rPr sz="1100" b="0">
                <a:solidFill>
                  <a:srgbClr val="6B6B72"/>
                </a:solidFill>
                <a:latin typeface="Consolas"/>
              </a:rPr>
              <a:t>23BSA10011</a:t>
            </a:r>
            <a:r>
              <a:rPr sz="1300" b="1">
                <a:solidFill>
                  <a:srgbClr val="FAFAFA"/>
                </a:solidFill>
                <a:latin typeface="Inter"/>
              </a:rPr>
              <a:t>    ·    Nikhil Kumar </a:t>
            </a:r>
            <a:r>
              <a:rPr sz="1100" b="0">
                <a:solidFill>
                  <a:srgbClr val="6B6B72"/>
                </a:solidFill>
                <a:latin typeface="Consolas"/>
              </a:rPr>
              <a:t>23BSA10196</a:t>
            </a:r>
            <a:r>
              <a:rPr sz="1300" b="1">
                <a:solidFill>
                  <a:srgbClr val="FAFAFA"/>
                </a:solidFill>
                <a:latin typeface="Inter"/>
              </a:rPr>
              <a:t>    ·    Manas Awasthi </a:t>
            </a:r>
            <a:r>
              <a:rPr sz="1100" b="0">
                <a:solidFill>
                  <a:srgbClr val="6B6B72"/>
                </a:solidFill>
                <a:latin typeface="Consolas"/>
              </a:rPr>
              <a:t>23BSA10061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6419088"/>
            <a:ext cx="192755" cy="192755"/>
          </a:xfrm>
          <a:prstGeom prst="roundRect">
            <a:avLst>
              <a:gd name="adj" fmla="val 2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Donut 25"/>
          <p:cNvSpPr/>
          <p:nvPr/>
        </p:nvSpPr>
        <p:spPr>
          <a:xfrm>
            <a:off x="545439" y="6461607"/>
            <a:ext cx="107716" cy="107716"/>
          </a:xfrm>
          <a:prstGeom prst="donut">
            <a:avLst>
              <a:gd name="adj" fmla="val 30000"/>
            </a:avLst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19140" y="6461607"/>
            <a:ext cx="42519" cy="4251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75486" y="6491654"/>
            <a:ext cx="47621" cy="47621"/>
          </a:xfrm>
          <a:prstGeom prst="ellips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20" y="6455664"/>
            <a:ext cx="3657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1">
                <a:solidFill>
                  <a:srgbClr val="6B6B72"/>
                </a:solidFill>
                <a:latin typeface="Inter"/>
              </a:rPr>
              <a:t>cloudweave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89920" y="6455664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6B6B72"/>
                </a:solidFill>
                <a:latin typeface="Consola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57200"/>
            <a:ext cx="310896" cy="310896"/>
          </a:xfrm>
          <a:prstGeom prst="roundRect">
            <a:avLst>
              <a:gd name="adj" fmla="val 2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onut 3"/>
          <p:cNvSpPr/>
          <p:nvPr/>
        </p:nvSpPr>
        <p:spPr>
          <a:xfrm>
            <a:off x="571500" y="525780"/>
            <a:ext cx="173736" cy="173736"/>
          </a:xfrm>
          <a:prstGeom prst="donut">
            <a:avLst>
              <a:gd name="adj" fmla="val 30000"/>
            </a:avLst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90372" y="525780"/>
            <a:ext cx="68580" cy="685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19963" y="574243"/>
            <a:ext cx="76809" cy="76809"/>
          </a:xfrm>
          <a:prstGeom prst="ellips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" y="566928"/>
            <a:ext cx="105613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FAFAFA"/>
                </a:solidFill>
                <a:latin typeface="Inter"/>
              </a:rPr>
              <a:t>The problem: multi-cloud is three jobs, not one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78992" y="1298448"/>
            <a:ext cx="2377440" cy="274320"/>
          </a:xfrm>
          <a:prstGeom prst="roundRect">
            <a:avLst>
              <a:gd name="adj" fmla="val 50000"/>
            </a:avLst>
          </a:prstGeom>
          <a:solidFill>
            <a:srgbClr val="1C1C1C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/>
            <a:r>
              <a:rPr sz="950" b="1">
                <a:solidFill>
                  <a:srgbClr val="A3A3A8"/>
                </a:solidFill>
                <a:latin typeface="Consolas"/>
              </a:rPr>
              <a:t>WHY TEAMS STRUGGLE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28800"/>
            <a:ext cx="2157984" cy="3200400"/>
          </a:xfrm>
          <a:prstGeom prst="roundRect">
            <a:avLst>
              <a:gd name="adj" fmla="val 7000"/>
            </a:avLst>
          </a:prstGeom>
          <a:solidFill>
            <a:srgbClr val="141414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2048256"/>
            <a:ext cx="17556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6B6B72"/>
                </a:solidFill>
                <a:latin typeface="Consola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2487168"/>
            <a:ext cx="1755648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50" b="1">
                <a:solidFill>
                  <a:srgbClr val="FAFAFA"/>
                </a:solidFill>
                <a:latin typeface="Inter"/>
              </a:rPr>
              <a:t>Fragmented consoles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3200400"/>
            <a:ext cx="1755648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050" b="0">
                <a:solidFill>
                  <a:srgbClr val="A3A3A8"/>
                </a:solidFill>
                <a:latin typeface="Inter"/>
              </a:rPr>
              <a:t>AWS, Azure, GCP: three IAM models, three billing formats, zero shared memory of what runs where.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56916" y="1828800"/>
            <a:ext cx="2157984" cy="3200400"/>
          </a:xfrm>
          <a:prstGeom prst="roundRect">
            <a:avLst>
              <a:gd name="adj" fmla="val 7000"/>
            </a:avLst>
          </a:prstGeom>
          <a:solidFill>
            <a:srgbClr val="141414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58084" y="2048256"/>
            <a:ext cx="17556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6B6B72"/>
                </a:solidFill>
                <a:latin typeface="Consola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58084" y="2487168"/>
            <a:ext cx="1755648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50" b="1">
                <a:solidFill>
                  <a:srgbClr val="FAFAFA"/>
                </a:solidFill>
                <a:latin typeface="Inter"/>
              </a:rPr>
              <a:t>Terraform bottleneck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58084" y="3200400"/>
            <a:ext cx="1755648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050" b="0">
                <a:solidFill>
                  <a:srgbClr val="A3A3A8"/>
                </a:solidFill>
                <a:latin typeface="Inter"/>
              </a:rPr>
              <a:t>Correct HCL, state, and provider pinning is expert work. Everyone else waits — or makes risky console clicks.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10912" y="1828800"/>
            <a:ext cx="2157984" cy="3200400"/>
          </a:xfrm>
          <a:prstGeom prst="roundRect">
            <a:avLst>
              <a:gd name="adj" fmla="val 7000"/>
            </a:avLst>
          </a:prstGeom>
          <a:solidFill>
            <a:srgbClr val="141414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80" y="2048256"/>
            <a:ext cx="17556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6B6B72"/>
                </a:solidFill>
                <a:latin typeface="Consola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80" y="2487168"/>
            <a:ext cx="1755648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50" b="1">
                <a:solidFill>
                  <a:srgbClr val="FAFAFA"/>
                </a:solidFill>
                <a:latin typeface="Inter"/>
              </a:rPr>
              <a:t>Ungoverned change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80" y="3200400"/>
            <a:ext cx="1755648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050" b="0">
                <a:solidFill>
                  <a:srgbClr val="A3A3A8"/>
                </a:solidFill>
                <a:latin typeface="Inter"/>
              </a:rPr>
              <a:t>Anyone with console access can delete a database. No plan review, no approval, no record of who did what.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64908" y="1828800"/>
            <a:ext cx="2157984" cy="3200400"/>
          </a:xfrm>
          <a:prstGeom prst="roundRect">
            <a:avLst>
              <a:gd name="adj" fmla="val 7000"/>
            </a:avLst>
          </a:prstGeom>
          <a:solidFill>
            <a:srgbClr val="141414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66076" y="2048256"/>
            <a:ext cx="17556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6B6B72"/>
                </a:solidFill>
                <a:latin typeface="Consolas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66076" y="2487168"/>
            <a:ext cx="1755648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50" b="1">
                <a:solidFill>
                  <a:srgbClr val="FAFAFA"/>
                </a:solidFill>
                <a:latin typeface="Inter"/>
              </a:rPr>
              <a:t>Cost after the fact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66076" y="3200400"/>
            <a:ext cx="1755648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050" b="0">
                <a:solidFill>
                  <a:srgbClr val="A3A3A8"/>
                </a:solidFill>
                <a:latin typeface="Inter"/>
              </a:rPr>
              <a:t>Spend surfaces at month end, per provider, after decisions are locked. Nothing prices a change before apply.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518904" y="1828800"/>
            <a:ext cx="2157984" cy="3200400"/>
          </a:xfrm>
          <a:prstGeom prst="roundRect">
            <a:avLst>
              <a:gd name="adj" fmla="val 7000"/>
            </a:avLst>
          </a:prstGeom>
          <a:solidFill>
            <a:srgbClr val="141414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720072" y="2048256"/>
            <a:ext cx="17556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6B6B72"/>
                </a:solidFill>
                <a:latin typeface="Consolas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20072" y="2487168"/>
            <a:ext cx="1755648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50" b="1">
                <a:solidFill>
                  <a:srgbClr val="FAFAFA"/>
                </a:solidFill>
                <a:latin typeface="Inter"/>
              </a:rPr>
              <a:t>No operational memory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20072" y="3200400"/>
            <a:ext cx="1755648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050" b="0">
                <a:solidFill>
                  <a:srgbClr val="A3A3A8"/>
                </a:solidFill>
                <a:latin typeface="Inter"/>
              </a:rPr>
              <a:t>Nobody knows what depends on what. Deleting “an idle VM” can silently kill a database network path.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5349240"/>
            <a:ext cx="11183112" cy="777240"/>
          </a:xfrm>
          <a:prstGeom prst="roundRect">
            <a:avLst>
              <a:gd name="adj" fmla="val 12000"/>
            </a:avLst>
          </a:prstGeom>
          <a:solidFill>
            <a:srgbClr val="1C1C1C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5349240"/>
            <a:ext cx="106984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50" b="0">
                <a:solidFill>
                  <a:srgbClr val="A3A3A8"/>
                </a:solidFill>
                <a:latin typeface="Inter"/>
              </a:rPr>
              <a:t>Existing tools each solve one slice — dashboards view, pipelines expert-only, CSPMs audit, FinOps cost. </a:t>
            </a:r>
            <a:r>
              <a:rPr sz="1250" b="1">
                <a:solidFill>
                  <a:srgbClr val="FAFAFA"/>
                </a:solidFill>
                <a:latin typeface="Inter"/>
              </a:rPr>
              <a:t>None give a small team one governed path from intent to running infrastructure.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6419088"/>
            <a:ext cx="192755" cy="192755"/>
          </a:xfrm>
          <a:prstGeom prst="roundRect">
            <a:avLst>
              <a:gd name="adj" fmla="val 2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Donut 31"/>
          <p:cNvSpPr/>
          <p:nvPr/>
        </p:nvSpPr>
        <p:spPr>
          <a:xfrm>
            <a:off x="545439" y="6461607"/>
            <a:ext cx="107716" cy="107716"/>
          </a:xfrm>
          <a:prstGeom prst="donut">
            <a:avLst>
              <a:gd name="adj" fmla="val 30000"/>
            </a:avLst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19140" y="6461607"/>
            <a:ext cx="42519" cy="4251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75486" y="6491654"/>
            <a:ext cx="47621" cy="47621"/>
          </a:xfrm>
          <a:prstGeom prst="ellips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" y="6455664"/>
            <a:ext cx="3657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1">
                <a:solidFill>
                  <a:srgbClr val="6B6B72"/>
                </a:solidFill>
                <a:latin typeface="Inter"/>
              </a:rPr>
              <a:t>cloudweave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789920" y="6455664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6B6B72"/>
                </a:solidFill>
                <a:latin typeface="Consola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57200"/>
            <a:ext cx="310896" cy="310896"/>
          </a:xfrm>
          <a:prstGeom prst="roundRect">
            <a:avLst>
              <a:gd name="adj" fmla="val 2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onut 3"/>
          <p:cNvSpPr/>
          <p:nvPr/>
        </p:nvSpPr>
        <p:spPr>
          <a:xfrm>
            <a:off x="571500" y="525780"/>
            <a:ext cx="173736" cy="173736"/>
          </a:xfrm>
          <a:prstGeom prst="donut">
            <a:avLst>
              <a:gd name="adj" fmla="val 30000"/>
            </a:avLst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90372" y="525780"/>
            <a:ext cx="68580" cy="685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19963" y="574243"/>
            <a:ext cx="76809" cy="76809"/>
          </a:xfrm>
          <a:prstGeom prst="ellips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" y="566928"/>
            <a:ext cx="105613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FAFAFA"/>
                </a:solidFill>
                <a:latin typeface="Inter"/>
              </a:rPr>
              <a:t>The solution: one governed pipeline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78992" y="1298448"/>
            <a:ext cx="2377440" cy="274320"/>
          </a:xfrm>
          <a:prstGeom prst="roundRect">
            <a:avLst>
              <a:gd name="adj" fmla="val 50000"/>
            </a:avLst>
          </a:prstGeom>
          <a:solidFill>
            <a:srgbClr val="1C1C1C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/>
            <a:r>
              <a:rPr sz="950" b="1">
                <a:solidFill>
                  <a:srgbClr val="A3A3A8"/>
                </a:solidFill>
                <a:latin typeface="Consolas"/>
              </a:rPr>
              <a:t>INTENT → RUNNING INFRASTRUCTURE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28800"/>
            <a:ext cx="1481328" cy="9692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" y="1956816"/>
            <a:ext cx="126187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0A0A0A"/>
                </a:solidFill>
                <a:latin typeface="Inter"/>
              </a:rPr>
              <a:t>Design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" y="2304288"/>
            <a:ext cx="133502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5555A"/>
                </a:solidFill>
                <a:latin typeface="Consolas"/>
              </a:rPr>
              <a:t>canvas or template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61388" y="2139696"/>
            <a:ext cx="1828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6B6B72"/>
                </a:solidFill>
                <a:latin typeface="Inter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07692" y="1828800"/>
            <a:ext cx="1481328" cy="969264"/>
          </a:xfrm>
          <a:prstGeom prst="roundRect">
            <a:avLst>
              <a:gd name="adj" fmla="val 12000"/>
            </a:avLst>
          </a:prstGeom>
          <a:solidFill>
            <a:srgbClr val="141414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17420" y="1956816"/>
            <a:ext cx="126187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FAFAFA"/>
                </a:solidFill>
                <a:latin typeface="Inter"/>
              </a:rPr>
              <a:t>Configure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80844" y="2304288"/>
            <a:ext cx="133502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A3A3A8"/>
                </a:solidFill>
                <a:latin typeface="Consolas"/>
              </a:rPr>
              <a:t>schema-validated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139696"/>
            <a:ext cx="1828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6B6B72"/>
                </a:solidFill>
                <a:latin typeface="Inter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12464" y="1828800"/>
            <a:ext cx="1481328" cy="969264"/>
          </a:xfrm>
          <a:prstGeom prst="roundRect">
            <a:avLst>
              <a:gd name="adj" fmla="val 12000"/>
            </a:avLst>
          </a:prstGeom>
          <a:solidFill>
            <a:srgbClr val="141414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22192" y="1956816"/>
            <a:ext cx="126187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FAFAFA"/>
                </a:solidFill>
                <a:latin typeface="Inter"/>
              </a:rPr>
              <a:t>Plan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85616" y="2304288"/>
            <a:ext cx="133502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A3A3A8"/>
                </a:solidFill>
                <a:latin typeface="Consolas"/>
              </a:rPr>
              <a:t>diff + cost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70932" y="2139696"/>
            <a:ext cx="1828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6B6B72"/>
                </a:solidFill>
                <a:latin typeface="Inter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317236" y="1828800"/>
            <a:ext cx="1481328" cy="969264"/>
          </a:xfrm>
          <a:prstGeom prst="roundRect">
            <a:avLst>
              <a:gd name="adj" fmla="val 12000"/>
            </a:avLst>
          </a:prstGeom>
          <a:solidFill>
            <a:srgbClr val="141414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26964" y="1956816"/>
            <a:ext cx="126187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FAFAFA"/>
                </a:solidFill>
                <a:latin typeface="Inter"/>
              </a:rPr>
              <a:t>Policy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90388" y="2304288"/>
            <a:ext cx="133502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A3A3A8"/>
                </a:solidFill>
                <a:latin typeface="Consolas"/>
              </a:rPr>
              <a:t>guardrail verdicts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75704" y="2139696"/>
            <a:ext cx="1828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6B6B72"/>
                </a:solidFill>
                <a:latin typeface="Inter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22008" y="1828800"/>
            <a:ext cx="1481328" cy="969264"/>
          </a:xfrm>
          <a:prstGeom prst="roundRect">
            <a:avLst>
              <a:gd name="adj" fmla="val 12000"/>
            </a:avLst>
          </a:prstGeom>
          <a:solidFill>
            <a:srgbClr val="141414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31736" y="1956816"/>
            <a:ext cx="126187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FAFAFA"/>
                </a:solidFill>
                <a:latin typeface="Inter"/>
              </a:rPr>
              <a:t>Approve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95160" y="2304288"/>
            <a:ext cx="133502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A3A3A8"/>
                </a:solidFill>
                <a:latin typeface="Consolas"/>
              </a:rPr>
              <a:t>named receipt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0476" y="2139696"/>
            <a:ext cx="1828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6B6B72"/>
                </a:solidFill>
                <a:latin typeface="Inter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526780" y="1828800"/>
            <a:ext cx="1481328" cy="969264"/>
          </a:xfrm>
          <a:prstGeom prst="roundRect">
            <a:avLst>
              <a:gd name="adj" fmla="val 12000"/>
            </a:avLst>
          </a:prstGeom>
          <a:solidFill>
            <a:srgbClr val="141414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36508" y="1956816"/>
            <a:ext cx="126187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FAFAFA"/>
                </a:solidFill>
                <a:latin typeface="Inter"/>
              </a:rPr>
              <a:t>Apply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99932" y="2304288"/>
            <a:ext cx="133502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A3A3A8"/>
                </a:solidFill>
                <a:latin typeface="Consolas"/>
              </a:rPr>
              <a:t>resources recorded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85248" y="2139696"/>
            <a:ext cx="1828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6B6B72"/>
                </a:solidFill>
                <a:latin typeface="Inter"/>
              </a:rPr>
              <a:t>→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131552" y="1828800"/>
            <a:ext cx="1481328" cy="969264"/>
          </a:xfrm>
          <a:prstGeom prst="roundRect">
            <a:avLst>
              <a:gd name="adj" fmla="val 12000"/>
            </a:avLst>
          </a:prstGeom>
          <a:solidFill>
            <a:srgbClr val="141414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241280" y="1956816"/>
            <a:ext cx="126187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FAFAFA"/>
                </a:solidFill>
                <a:latin typeface="Inter"/>
              </a:rPr>
              <a:t>Operate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04704" y="2304288"/>
            <a:ext cx="133502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A3A3A8"/>
                </a:solidFill>
                <a:latin typeface="Consolas"/>
              </a:rPr>
              <a:t>inventory·topo·cost</a:t>
            </a:r>
          </a:p>
        </p:txBody>
      </p:sp>
      <p:sp>
        <p:nvSpPr>
          <p:cNvPr id="36" name="Oval 35"/>
          <p:cNvSpPr/>
          <p:nvPr/>
        </p:nvSpPr>
        <p:spPr>
          <a:xfrm>
            <a:off x="576072" y="3209544"/>
            <a:ext cx="64008" cy="640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04672" y="3127248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FAFAFA"/>
                </a:solidFill>
                <a:latin typeface="Inter"/>
              </a:rPr>
              <a:t>One control plane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03320" y="3127248"/>
            <a:ext cx="795527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0">
                <a:solidFill>
                  <a:srgbClr val="A3A3A8"/>
                </a:solidFill>
                <a:latin typeface="Inter"/>
              </a:rPr>
              <a:t>Projects &amp; environments span three clouds. One identity, one RBAC model, one audit trail, one cost view.</a:t>
            </a:r>
          </a:p>
        </p:txBody>
      </p:sp>
      <p:sp>
        <p:nvSpPr>
          <p:cNvPr id="39" name="Oval 38"/>
          <p:cNvSpPr/>
          <p:nvPr/>
        </p:nvSpPr>
        <p:spPr>
          <a:xfrm>
            <a:off x="576072" y="3831336"/>
            <a:ext cx="64008" cy="640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4672" y="3749040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FAFAFA"/>
                </a:solidFill>
                <a:latin typeface="Inter"/>
              </a:rPr>
              <a:t>Paved-road IaC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703320" y="3749040"/>
            <a:ext cx="795527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0">
                <a:solidFill>
                  <a:srgbClr val="A3A3A8"/>
                </a:solidFill>
                <a:latin typeface="Inter"/>
              </a:rPr>
              <a:t>Hardened templates + visual designer generate Terraform. Teams configure; modules carry the security defaults.</a:t>
            </a:r>
          </a:p>
        </p:txBody>
      </p:sp>
      <p:sp>
        <p:nvSpPr>
          <p:cNvPr id="42" name="Oval 41"/>
          <p:cNvSpPr/>
          <p:nvPr/>
        </p:nvSpPr>
        <p:spPr>
          <a:xfrm>
            <a:off x="576072" y="4453128"/>
            <a:ext cx="64008" cy="640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4672" y="4370832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FAFAFA"/>
                </a:solidFill>
                <a:latin typeface="Inter"/>
              </a:rPr>
              <a:t>Governed change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703320" y="4370832"/>
            <a:ext cx="795527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0">
                <a:solidFill>
                  <a:srgbClr val="A3A3A8"/>
                </a:solidFill>
                <a:latin typeface="Inter"/>
              </a:rPr>
              <a:t>Plan-before-apply is mandatory. Policy runs first. Named approvals create receipts. Destructive verbs need typed confirmation.</a:t>
            </a:r>
          </a:p>
        </p:txBody>
      </p:sp>
      <p:sp>
        <p:nvSpPr>
          <p:cNvPr id="45" name="Oval 44"/>
          <p:cNvSpPr/>
          <p:nvPr/>
        </p:nvSpPr>
        <p:spPr>
          <a:xfrm>
            <a:off x="576072" y="5074920"/>
            <a:ext cx="64008" cy="640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04672" y="4992624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FAFAFA"/>
                </a:solidFill>
                <a:latin typeface="Inter"/>
              </a:rPr>
              <a:t>Cost before the bill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703320" y="4992624"/>
            <a:ext cx="795527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0">
                <a:solidFill>
                  <a:srgbClr val="A3A3A8"/>
                </a:solidFill>
                <a:latin typeface="Inter"/>
              </a:rPr>
              <a:t>Every plan carries a monthly estimate. A rule-based advisor projects savings with concrete steps.</a:t>
            </a:r>
          </a:p>
        </p:txBody>
      </p:sp>
      <p:sp>
        <p:nvSpPr>
          <p:cNvPr id="48" name="Oval 47"/>
          <p:cNvSpPr/>
          <p:nvPr/>
        </p:nvSpPr>
        <p:spPr>
          <a:xfrm>
            <a:off x="576072" y="5696712"/>
            <a:ext cx="64008" cy="640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04672" y="5614416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FAFAFA"/>
                </a:solidFill>
                <a:latin typeface="Inter"/>
              </a:rPr>
              <a:t>Operational memory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703320" y="5614416"/>
            <a:ext cx="795527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0">
                <a:solidFill>
                  <a:srgbClr val="A3A3A8"/>
                </a:solidFill>
                <a:latin typeface="Inter"/>
              </a:rPr>
              <a:t>Resources, dependency topology, and history recorded at apply time — blast radius visible before change.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02920" y="6419088"/>
            <a:ext cx="192755" cy="192755"/>
          </a:xfrm>
          <a:prstGeom prst="roundRect">
            <a:avLst>
              <a:gd name="adj" fmla="val 2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Donut 51"/>
          <p:cNvSpPr/>
          <p:nvPr/>
        </p:nvSpPr>
        <p:spPr>
          <a:xfrm>
            <a:off x="545439" y="6461607"/>
            <a:ext cx="107716" cy="107716"/>
          </a:xfrm>
          <a:prstGeom prst="donut">
            <a:avLst>
              <a:gd name="adj" fmla="val 30000"/>
            </a:avLst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619140" y="6461607"/>
            <a:ext cx="42519" cy="4251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575486" y="6491654"/>
            <a:ext cx="47621" cy="47621"/>
          </a:xfrm>
          <a:prstGeom prst="ellips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60120" y="6455664"/>
            <a:ext cx="3657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1">
                <a:solidFill>
                  <a:srgbClr val="6B6B72"/>
                </a:solidFill>
                <a:latin typeface="Inter"/>
              </a:rPr>
              <a:t>cloudweave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789920" y="6455664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6B6B72"/>
                </a:solidFill>
                <a:latin typeface="Consola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57200"/>
            <a:ext cx="310896" cy="310896"/>
          </a:xfrm>
          <a:prstGeom prst="roundRect">
            <a:avLst>
              <a:gd name="adj" fmla="val 2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onut 3"/>
          <p:cNvSpPr/>
          <p:nvPr/>
        </p:nvSpPr>
        <p:spPr>
          <a:xfrm>
            <a:off x="571500" y="525780"/>
            <a:ext cx="173736" cy="173736"/>
          </a:xfrm>
          <a:prstGeom prst="donut">
            <a:avLst>
              <a:gd name="adj" fmla="val 30000"/>
            </a:avLst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90372" y="525780"/>
            <a:ext cx="68580" cy="685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19963" y="574243"/>
            <a:ext cx="76809" cy="76809"/>
          </a:xfrm>
          <a:prstGeom prst="ellips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" y="566928"/>
            <a:ext cx="105613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FAFAFA"/>
                </a:solidFill>
                <a:latin typeface="Inter"/>
              </a:rPr>
              <a:t>Five MVPs — one chain of custody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78992" y="1298448"/>
            <a:ext cx="2377440" cy="274320"/>
          </a:xfrm>
          <a:prstGeom prst="roundRect">
            <a:avLst>
              <a:gd name="adj" fmla="val 50000"/>
            </a:avLst>
          </a:prstGeom>
          <a:solidFill>
            <a:srgbClr val="1C1C1C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/>
            <a:r>
              <a:rPr sz="950" b="1">
                <a:solidFill>
                  <a:srgbClr val="A3A3A8"/>
                </a:solidFill>
                <a:latin typeface="Consolas"/>
              </a:rPr>
              <a:t>WHAT WE BUILT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783080"/>
            <a:ext cx="11183112" cy="804672"/>
          </a:xfrm>
          <a:prstGeom prst="roundRect">
            <a:avLst>
              <a:gd name="adj" fmla="val 10000"/>
            </a:avLst>
          </a:prstGeom>
          <a:solidFill>
            <a:srgbClr val="141414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13232" y="2039112"/>
            <a:ext cx="668655" cy="256032"/>
          </a:xfrm>
          <a:prstGeom prst="roundRect">
            <a:avLst>
              <a:gd name="adj" fmla="val 50000"/>
            </a:avLst>
          </a:prstGeom>
          <a:solidFill>
            <a:srgbClr val="1C1C1C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8" rIns="64008" tIns="0" bIns="0"/>
          <a:lstStyle/>
          <a:p>
            <a:pPr algn="ctr"/>
            <a:r>
              <a:rPr sz="950" b="1">
                <a:solidFill>
                  <a:srgbClr val="FAFAFA"/>
                </a:solidFill>
                <a:latin typeface="Consolas"/>
              </a:rPr>
              <a:t>MVP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1892808"/>
            <a:ext cx="3931920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1">
                <a:solidFill>
                  <a:srgbClr val="FAFAFA"/>
                </a:solidFill>
                <a:latin typeface="Inter"/>
              </a:rPr>
              <a:t>Multi-cloud governance backbone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50" b="0">
                <a:solidFill>
                  <a:srgbClr val="6B6B72"/>
                </a:solidFill>
                <a:latin typeface="Consolas"/>
              </a:rPr>
              <a:t>Accounts · projects · environments · RBAC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1856232"/>
            <a:ext cx="55321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00" b="0">
                <a:solidFill>
                  <a:srgbClr val="A3A3A8"/>
                </a:solidFill>
                <a:latin typeface="Inter"/>
              </a:rPr>
              <a:t>Credentials encrypted &amp; live-validated; dev/staging/prod each bound to its own account; ADMIN / DEVELOPER / VIEWER enforced at every route.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688336"/>
            <a:ext cx="11183112" cy="804672"/>
          </a:xfrm>
          <a:prstGeom prst="roundRect">
            <a:avLst>
              <a:gd name="adj" fmla="val 10000"/>
            </a:avLst>
          </a:prstGeom>
          <a:solidFill>
            <a:srgbClr val="141414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13232" y="2944368"/>
            <a:ext cx="668655" cy="256032"/>
          </a:xfrm>
          <a:prstGeom prst="roundRect">
            <a:avLst>
              <a:gd name="adj" fmla="val 50000"/>
            </a:avLst>
          </a:prstGeom>
          <a:solidFill>
            <a:srgbClr val="1C1C1C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8" rIns="64008" tIns="0" bIns="0"/>
          <a:lstStyle/>
          <a:p>
            <a:pPr algn="ctr"/>
            <a:r>
              <a:rPr sz="950" b="1">
                <a:solidFill>
                  <a:srgbClr val="FAFAFA"/>
                </a:solidFill>
                <a:latin typeface="Consolas"/>
              </a:rPr>
              <a:t>MVP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19" y="2798064"/>
            <a:ext cx="3931920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1">
                <a:solidFill>
                  <a:srgbClr val="FAFAFA"/>
                </a:solidFill>
                <a:latin typeface="Inter"/>
              </a:rPr>
              <a:t>Curated template catalog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50" b="0">
                <a:solidFill>
                  <a:srgbClr val="6B6B72"/>
                </a:solidFill>
                <a:latin typeface="Consolas"/>
              </a:rPr>
              <a:t>12 hardened Terraform modules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2761488"/>
            <a:ext cx="55321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00" b="0">
                <a:solidFill>
                  <a:srgbClr val="A3A3A8"/>
                </a:solidFill>
                <a:latin typeface="Inter"/>
              </a:rPr>
              <a:t>4 per provider with JSON-Schema contracts. Guardrails inside: private-by-default DBs, encrypted storage, deny-by-default SGs.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593592"/>
            <a:ext cx="11183112" cy="804672"/>
          </a:xfrm>
          <a:prstGeom prst="roundRect">
            <a:avLst>
              <a:gd name="adj" fmla="val 10000"/>
            </a:avLst>
          </a:prstGeom>
          <a:solidFill>
            <a:srgbClr val="141414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13232" y="3849624"/>
            <a:ext cx="668655" cy="256032"/>
          </a:xfrm>
          <a:prstGeom prst="roundRect">
            <a:avLst>
              <a:gd name="adj" fmla="val 50000"/>
            </a:avLst>
          </a:prstGeom>
          <a:solidFill>
            <a:srgbClr val="1C1C1C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8" rIns="64008" tIns="0" bIns="0"/>
          <a:lstStyle/>
          <a:p>
            <a:pPr algn="ctr"/>
            <a:r>
              <a:rPr sz="950" b="1">
                <a:solidFill>
                  <a:srgbClr val="FAFAFA"/>
                </a:solidFill>
                <a:latin typeface="Consolas"/>
              </a:rPr>
              <a:t>MVP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74519" y="3703320"/>
            <a:ext cx="3931920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1">
                <a:solidFill>
                  <a:srgbClr val="FAFAFA"/>
                </a:solidFill>
                <a:latin typeface="Inter"/>
              </a:rPr>
              <a:t>Visual designer → Terraform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50" b="0">
                <a:solidFill>
                  <a:srgbClr val="6B6B72"/>
                </a:solidFill>
                <a:latin typeface="Consolas"/>
              </a:rPr>
              <a:t>canvas writes production main.tf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3666744"/>
            <a:ext cx="55321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00" b="0">
                <a:solidFill>
                  <a:srgbClr val="A3A3A8"/>
                </a:solidFill>
                <a:latin typeface="Inter"/>
              </a:rPr>
              <a:t>Place nodes, wire dependencies; diagram and generated HCL never diverge. Designs save as reusable artifacts.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4498848"/>
            <a:ext cx="11183112" cy="804672"/>
          </a:xfrm>
          <a:prstGeom prst="roundRect">
            <a:avLst>
              <a:gd name="adj" fmla="val 10000"/>
            </a:avLst>
          </a:prstGeom>
          <a:solidFill>
            <a:srgbClr val="141414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13232" y="4754880"/>
            <a:ext cx="668655" cy="256032"/>
          </a:xfrm>
          <a:prstGeom prst="roundRect">
            <a:avLst>
              <a:gd name="adj" fmla="val 50000"/>
            </a:avLst>
          </a:prstGeom>
          <a:solidFill>
            <a:srgbClr val="1C1C1C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8" rIns="64008" tIns="0" bIns="0"/>
          <a:lstStyle/>
          <a:p>
            <a:pPr algn="ctr"/>
            <a:r>
              <a:rPr sz="950" b="1">
                <a:solidFill>
                  <a:srgbClr val="FAFAFA"/>
                </a:solidFill>
                <a:latin typeface="Consolas"/>
              </a:rPr>
              <a:t>MVP 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74519" y="4608576"/>
            <a:ext cx="3931920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1">
                <a:solidFill>
                  <a:srgbClr val="FAFAFA"/>
                </a:solidFill>
                <a:latin typeface="Inter"/>
              </a:rPr>
              <a:t>Governed pipeline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50" b="0">
                <a:solidFill>
                  <a:srgbClr val="6B6B72"/>
                </a:solidFill>
                <a:latin typeface="Consolas"/>
              </a:rPr>
              <a:t>plan → policy → approve → apply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4572000"/>
            <a:ext cx="55321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00" b="0">
                <a:solidFill>
                  <a:srgbClr val="A3A3A8"/>
                </a:solidFill>
                <a:latin typeface="Inter"/>
              </a:rPr>
              <a:t>Isolated worker runs terraform plan; guardrails check encryption/exposure/CIDRs; named approver signs; apply records every resource.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5404104"/>
            <a:ext cx="11183112" cy="804672"/>
          </a:xfrm>
          <a:prstGeom prst="roundRect">
            <a:avLst>
              <a:gd name="adj" fmla="val 10000"/>
            </a:avLst>
          </a:prstGeom>
          <a:solidFill>
            <a:srgbClr val="141414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13232" y="5660136"/>
            <a:ext cx="668655" cy="256032"/>
          </a:xfrm>
          <a:prstGeom prst="roundRect">
            <a:avLst>
              <a:gd name="adj" fmla="val 50000"/>
            </a:avLst>
          </a:prstGeom>
          <a:solidFill>
            <a:srgbClr val="1C1C1C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8" rIns="64008" tIns="0" bIns="0"/>
          <a:lstStyle/>
          <a:p>
            <a:pPr algn="ctr"/>
            <a:r>
              <a:rPr sz="950" b="1">
                <a:solidFill>
                  <a:srgbClr val="FAFAFA"/>
                </a:solidFill>
                <a:latin typeface="Consolas"/>
              </a:rPr>
              <a:t>MVP 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74519" y="5513832"/>
            <a:ext cx="3931920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1">
                <a:solidFill>
                  <a:srgbClr val="FAFAFA"/>
                </a:solidFill>
                <a:latin typeface="Inter"/>
              </a:rPr>
              <a:t>Operate surface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50" b="0">
                <a:solidFill>
                  <a:srgbClr val="6B6B72"/>
                </a:solidFill>
                <a:latin typeface="Consolas"/>
              </a:rPr>
              <a:t>inventory · topology · costs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0" y="5477256"/>
            <a:ext cx="55321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00" b="0">
                <a:solidFill>
                  <a:srgbClr val="A3A3A8"/>
                </a:solidFill>
                <a:latin typeface="Inter"/>
              </a:rPr>
              <a:t>Every apply records resources cross-cloud; dependency graph shows blast radius; rate-card cost estimates + rule-based optimization advisor.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6419088"/>
            <a:ext cx="192755" cy="192755"/>
          </a:xfrm>
          <a:prstGeom prst="roundRect">
            <a:avLst>
              <a:gd name="adj" fmla="val 2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Donut 29"/>
          <p:cNvSpPr/>
          <p:nvPr/>
        </p:nvSpPr>
        <p:spPr>
          <a:xfrm>
            <a:off x="545439" y="6461607"/>
            <a:ext cx="107716" cy="107716"/>
          </a:xfrm>
          <a:prstGeom prst="donut">
            <a:avLst>
              <a:gd name="adj" fmla="val 30000"/>
            </a:avLst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19140" y="6461607"/>
            <a:ext cx="42519" cy="4251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75486" y="6491654"/>
            <a:ext cx="47621" cy="47621"/>
          </a:xfrm>
          <a:prstGeom prst="ellips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0120" y="6455664"/>
            <a:ext cx="3657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1">
                <a:solidFill>
                  <a:srgbClr val="6B6B72"/>
                </a:solidFill>
                <a:latin typeface="Inter"/>
              </a:rPr>
              <a:t>cloudweave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789920" y="6455664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6B6B72"/>
                </a:solidFill>
                <a:latin typeface="Consola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57200"/>
            <a:ext cx="310896" cy="310896"/>
          </a:xfrm>
          <a:prstGeom prst="roundRect">
            <a:avLst>
              <a:gd name="adj" fmla="val 2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onut 3"/>
          <p:cNvSpPr/>
          <p:nvPr/>
        </p:nvSpPr>
        <p:spPr>
          <a:xfrm>
            <a:off x="571500" y="525780"/>
            <a:ext cx="173736" cy="173736"/>
          </a:xfrm>
          <a:prstGeom prst="donut">
            <a:avLst>
              <a:gd name="adj" fmla="val 30000"/>
            </a:avLst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90372" y="525780"/>
            <a:ext cx="68580" cy="685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19963" y="574243"/>
            <a:ext cx="76809" cy="76809"/>
          </a:xfrm>
          <a:prstGeom prst="ellips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104120" y="530352"/>
            <a:ext cx="668655" cy="256032"/>
          </a:xfrm>
          <a:prstGeom prst="roundRect">
            <a:avLst>
              <a:gd name="adj" fmla="val 50000"/>
            </a:avLst>
          </a:prstGeom>
          <a:solidFill>
            <a:srgbClr val="1C1C1C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8" rIns="64008" tIns="0" bIns="0"/>
          <a:lstStyle/>
          <a:p>
            <a:pPr algn="ctr"/>
            <a:r>
              <a:rPr sz="950" b="1">
                <a:solidFill>
                  <a:srgbClr val="FAFAFA"/>
                </a:solidFill>
                <a:latin typeface="Consolas"/>
              </a:rPr>
              <a:t>MVP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566928"/>
            <a:ext cx="105613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FAFAFA"/>
                </a:solidFill>
                <a:latin typeface="Inter"/>
              </a:rPr>
              <a:t>Multi-cloud governance backbone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25296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A3A3A8"/>
                </a:solidFill>
                <a:latin typeface="Consolas"/>
              </a:rPr>
              <a:t>accounts · projects · environments · RBAC</a:t>
            </a:r>
          </a:p>
        </p:txBody>
      </p:sp>
      <p:sp>
        <p:nvSpPr>
          <p:cNvPr id="10" name="Oval 9"/>
          <p:cNvSpPr/>
          <p:nvPr/>
        </p:nvSpPr>
        <p:spPr>
          <a:xfrm>
            <a:off x="576072" y="1965959"/>
            <a:ext cx="64008" cy="640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FAFAFA"/>
                </a:solidFill>
                <a:latin typeface="Inter"/>
              </a:rPr>
              <a:t>Sealed credentials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1874519"/>
            <a:ext cx="8046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400"/>
              </a:spcAft>
            </a:pPr>
            <a:r>
              <a:rPr sz="1100" b="0">
                <a:solidFill>
                  <a:srgbClr val="A3A3A8"/>
                </a:solidFill>
                <a:latin typeface="Inter"/>
              </a:rPr>
              <a:t>AES-256-GCM at rest; validated live at onboarding via AWS STS / Azure ARM / GCP Resource Manager. The API never returns secrets.</a:t>
            </a:r>
          </a:p>
        </p:txBody>
      </p:sp>
      <p:sp>
        <p:nvSpPr>
          <p:cNvPr id="13" name="Oval 12"/>
          <p:cNvSpPr/>
          <p:nvPr/>
        </p:nvSpPr>
        <p:spPr>
          <a:xfrm>
            <a:off x="576072" y="2624327"/>
            <a:ext cx="64008" cy="640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2532887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FAFAFA"/>
                </a:solidFill>
                <a:latin typeface="Inter"/>
              </a:rPr>
              <a:t>Workspace isolation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2532887"/>
            <a:ext cx="8046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400"/>
              </a:spcAft>
            </a:pPr>
            <a:r>
              <a:rPr sz="1100" b="0">
                <a:solidFill>
                  <a:srgbClr val="A3A3A8"/>
                </a:solidFill>
                <a:latin typeface="Inter"/>
              </a:rPr>
              <a:t>Projects carry dev / staging / production environments, each bound to its own cloud account — paved roads, not shared credentials.</a:t>
            </a:r>
          </a:p>
        </p:txBody>
      </p:sp>
      <p:sp>
        <p:nvSpPr>
          <p:cNvPr id="16" name="Oval 15"/>
          <p:cNvSpPr/>
          <p:nvPr/>
        </p:nvSpPr>
        <p:spPr>
          <a:xfrm>
            <a:off x="576072" y="3282695"/>
            <a:ext cx="64008" cy="640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191255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FAFAFA"/>
                </a:solidFill>
                <a:latin typeface="Inter"/>
              </a:rPr>
              <a:t>Role-gated everywhere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1880" y="3191255"/>
            <a:ext cx="8046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400"/>
              </a:spcAft>
            </a:pPr>
            <a:r>
              <a:rPr sz="1100" b="0">
                <a:solidFill>
                  <a:srgbClr val="A3A3A8"/>
                </a:solidFill>
                <a:latin typeface="Inter"/>
              </a:rPr>
              <a:t>ADMIN governs accounts, DEVELOPER ships infrastructure, VIEWER reads — enforced at route level, tested in the suite.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5074920"/>
            <a:ext cx="11183112" cy="1005840"/>
          </a:xfrm>
          <a:prstGeom prst="roundRect">
            <a:avLst>
              <a:gd name="adj" fmla="val 10000"/>
            </a:avLst>
          </a:prstGeom>
          <a:solidFill>
            <a:srgbClr val="141414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5230368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1">
                <a:solidFill>
                  <a:srgbClr val="4AD98A"/>
                </a:solidFill>
                <a:latin typeface="Consolas"/>
              </a:rPr>
              <a:t>LIVE DEMO PATH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504688"/>
            <a:ext cx="10607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FAFAFA"/>
                </a:solidFill>
                <a:latin typeface="Inter"/>
              </a:rPr>
              <a:t>Sign up → onboard a cloud account (validation fires) → create project + 3 environments → open a second browser as VIEWER and watch actions get refused.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6419088"/>
            <a:ext cx="192755" cy="192755"/>
          </a:xfrm>
          <a:prstGeom prst="roundRect">
            <a:avLst>
              <a:gd name="adj" fmla="val 2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onut 22"/>
          <p:cNvSpPr/>
          <p:nvPr/>
        </p:nvSpPr>
        <p:spPr>
          <a:xfrm>
            <a:off x="545439" y="6461607"/>
            <a:ext cx="107716" cy="107716"/>
          </a:xfrm>
          <a:prstGeom prst="donut">
            <a:avLst>
              <a:gd name="adj" fmla="val 30000"/>
            </a:avLst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19140" y="6461607"/>
            <a:ext cx="42519" cy="4251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75486" y="6491654"/>
            <a:ext cx="47621" cy="47621"/>
          </a:xfrm>
          <a:prstGeom prst="ellips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" y="6455664"/>
            <a:ext cx="3657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1">
                <a:solidFill>
                  <a:srgbClr val="6B6B72"/>
                </a:solidFill>
                <a:latin typeface="Inter"/>
              </a:rPr>
              <a:t>cloudweave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89920" y="6455664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6B6B72"/>
                </a:solidFill>
                <a:latin typeface="Consola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57200"/>
            <a:ext cx="310896" cy="310896"/>
          </a:xfrm>
          <a:prstGeom prst="roundRect">
            <a:avLst>
              <a:gd name="adj" fmla="val 2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onut 3"/>
          <p:cNvSpPr/>
          <p:nvPr/>
        </p:nvSpPr>
        <p:spPr>
          <a:xfrm>
            <a:off x="571500" y="525780"/>
            <a:ext cx="173736" cy="173736"/>
          </a:xfrm>
          <a:prstGeom prst="donut">
            <a:avLst>
              <a:gd name="adj" fmla="val 30000"/>
            </a:avLst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90372" y="525780"/>
            <a:ext cx="68580" cy="685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19963" y="574243"/>
            <a:ext cx="76809" cy="76809"/>
          </a:xfrm>
          <a:prstGeom prst="ellips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104120" y="530352"/>
            <a:ext cx="668655" cy="256032"/>
          </a:xfrm>
          <a:prstGeom prst="roundRect">
            <a:avLst>
              <a:gd name="adj" fmla="val 50000"/>
            </a:avLst>
          </a:prstGeom>
          <a:solidFill>
            <a:srgbClr val="1C1C1C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8" rIns="64008" tIns="0" bIns="0"/>
          <a:lstStyle/>
          <a:p>
            <a:pPr algn="ctr"/>
            <a:r>
              <a:rPr sz="950" b="1">
                <a:solidFill>
                  <a:srgbClr val="FAFAFA"/>
                </a:solidFill>
                <a:latin typeface="Consolas"/>
              </a:rPr>
              <a:t>MVP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566928"/>
            <a:ext cx="105613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FAFAFA"/>
                </a:solidFill>
                <a:latin typeface="Inter"/>
              </a:rPr>
              <a:t>Curated template catalog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25296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A3A3A8"/>
                </a:solidFill>
                <a:latin typeface="Consolas"/>
              </a:rPr>
              <a:t>12 production-grade Terraform modules · schema contracts</a:t>
            </a:r>
          </a:p>
        </p:txBody>
      </p:sp>
      <p:sp>
        <p:nvSpPr>
          <p:cNvPr id="10" name="Oval 9"/>
          <p:cNvSpPr/>
          <p:nvPr/>
        </p:nvSpPr>
        <p:spPr>
          <a:xfrm>
            <a:off x="576072" y="1965959"/>
            <a:ext cx="64008" cy="640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FAFAFA"/>
                </a:solidFill>
                <a:latin typeface="Inter"/>
              </a:rPr>
              <a:t>Hardened by default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1874519"/>
            <a:ext cx="8046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400"/>
              </a:spcAft>
            </a:pPr>
            <a:r>
              <a:rPr sz="1100" b="0">
                <a:solidFill>
                  <a:srgbClr val="A3A3A8"/>
                </a:solidFill>
                <a:latin typeface="Inter"/>
              </a:rPr>
              <a:t>4 modules per provider — VPC/VNet, compute, database, storage. Databases private-by-default, storage encrypted, security groups deny-by-default.</a:t>
            </a:r>
          </a:p>
        </p:txBody>
      </p:sp>
      <p:sp>
        <p:nvSpPr>
          <p:cNvPr id="13" name="Oval 12"/>
          <p:cNvSpPr/>
          <p:nvPr/>
        </p:nvSpPr>
        <p:spPr>
          <a:xfrm>
            <a:off x="576072" y="2624327"/>
            <a:ext cx="64008" cy="640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2532887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FAFAFA"/>
                </a:solidFill>
                <a:latin typeface="Inter"/>
              </a:rPr>
              <a:t>Schema-driven config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2532887"/>
            <a:ext cx="8046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400"/>
              </a:spcAft>
            </a:pPr>
            <a:r>
              <a:rPr sz="1100" b="0">
                <a:solidFill>
                  <a:srgbClr val="A3A3A8"/>
                </a:solidFill>
                <a:latin typeface="Inter"/>
              </a:rPr>
              <a:t>Each module ships a JSON-Schema contract; the UI generates typed forms from it. Invalid configurations are rejected before plan.</a:t>
            </a:r>
          </a:p>
        </p:txBody>
      </p:sp>
      <p:sp>
        <p:nvSpPr>
          <p:cNvPr id="16" name="Oval 15"/>
          <p:cNvSpPr/>
          <p:nvPr/>
        </p:nvSpPr>
        <p:spPr>
          <a:xfrm>
            <a:off x="576072" y="3282695"/>
            <a:ext cx="64008" cy="640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191255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FAFAFA"/>
                </a:solidFill>
                <a:latin typeface="Inter"/>
              </a:rPr>
              <a:t>Synced from disk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1880" y="3191255"/>
            <a:ext cx="8046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400"/>
              </a:spcAft>
            </a:pPr>
            <a:r>
              <a:rPr sz="1100" b="0">
                <a:solidFill>
                  <a:srgbClr val="A3A3A8"/>
                </a:solidFill>
                <a:latin typeface="Inter"/>
              </a:rPr>
              <a:t>Modules live in the repo, sync into the catalog on demand — versioned, reviewable, extensible without touching product code.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5074920"/>
            <a:ext cx="11183112" cy="1005840"/>
          </a:xfrm>
          <a:prstGeom prst="roundRect">
            <a:avLst>
              <a:gd name="adj" fmla="val 10000"/>
            </a:avLst>
          </a:prstGeom>
          <a:solidFill>
            <a:srgbClr val="141414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5230368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1">
                <a:solidFill>
                  <a:srgbClr val="4AD98A"/>
                </a:solidFill>
                <a:latin typeface="Consolas"/>
              </a:rPr>
              <a:t>LIVE DEMO PATH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504688"/>
            <a:ext cx="10607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FAFAFA"/>
                </a:solidFill>
                <a:latin typeface="Inter"/>
              </a:rPr>
              <a:t>Template Catalog → Inspect Schema on AWS EC2 Web Server → see 3 typed parameters with safe defaults → Launch into the wizard.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6419088"/>
            <a:ext cx="192755" cy="192755"/>
          </a:xfrm>
          <a:prstGeom prst="roundRect">
            <a:avLst>
              <a:gd name="adj" fmla="val 2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onut 22"/>
          <p:cNvSpPr/>
          <p:nvPr/>
        </p:nvSpPr>
        <p:spPr>
          <a:xfrm>
            <a:off x="545439" y="6461607"/>
            <a:ext cx="107716" cy="107716"/>
          </a:xfrm>
          <a:prstGeom prst="donut">
            <a:avLst>
              <a:gd name="adj" fmla="val 30000"/>
            </a:avLst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19140" y="6461607"/>
            <a:ext cx="42519" cy="4251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75486" y="6491654"/>
            <a:ext cx="47621" cy="47621"/>
          </a:xfrm>
          <a:prstGeom prst="ellips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" y="6455664"/>
            <a:ext cx="3657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1">
                <a:solidFill>
                  <a:srgbClr val="6B6B72"/>
                </a:solidFill>
                <a:latin typeface="Inter"/>
              </a:rPr>
              <a:t>cloudweave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89920" y="6455664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6B6B72"/>
                </a:solidFill>
                <a:latin typeface="Consola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57200"/>
            <a:ext cx="310896" cy="310896"/>
          </a:xfrm>
          <a:prstGeom prst="roundRect">
            <a:avLst>
              <a:gd name="adj" fmla="val 2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onut 3"/>
          <p:cNvSpPr/>
          <p:nvPr/>
        </p:nvSpPr>
        <p:spPr>
          <a:xfrm>
            <a:off x="571500" y="525780"/>
            <a:ext cx="173736" cy="173736"/>
          </a:xfrm>
          <a:prstGeom prst="donut">
            <a:avLst>
              <a:gd name="adj" fmla="val 30000"/>
            </a:avLst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90372" y="525780"/>
            <a:ext cx="68580" cy="685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19963" y="574243"/>
            <a:ext cx="76809" cy="76809"/>
          </a:xfrm>
          <a:prstGeom prst="ellips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104120" y="530352"/>
            <a:ext cx="668655" cy="256032"/>
          </a:xfrm>
          <a:prstGeom prst="roundRect">
            <a:avLst>
              <a:gd name="adj" fmla="val 50000"/>
            </a:avLst>
          </a:prstGeom>
          <a:solidFill>
            <a:srgbClr val="1C1C1C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8" rIns="64008" tIns="0" bIns="0"/>
          <a:lstStyle/>
          <a:p>
            <a:pPr algn="ctr"/>
            <a:r>
              <a:rPr sz="950" b="1">
                <a:solidFill>
                  <a:srgbClr val="FAFAFA"/>
                </a:solidFill>
                <a:latin typeface="Consolas"/>
              </a:rPr>
              <a:t>MVP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566928"/>
            <a:ext cx="105613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FAFAFA"/>
                </a:solidFill>
                <a:latin typeface="Inter"/>
              </a:rPr>
              <a:t>Visual designer → Terraform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25296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A3A3A8"/>
                </a:solidFill>
                <a:latin typeface="Consolas"/>
              </a:rPr>
              <a:t>the diagram and the main.tf never diverge</a:t>
            </a:r>
          </a:p>
        </p:txBody>
      </p:sp>
      <p:sp>
        <p:nvSpPr>
          <p:cNvPr id="10" name="Oval 9"/>
          <p:cNvSpPr/>
          <p:nvPr/>
        </p:nvSpPr>
        <p:spPr>
          <a:xfrm>
            <a:off x="576072" y="1965959"/>
            <a:ext cx="64008" cy="640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FAFAFA"/>
                </a:solidFill>
                <a:latin typeface="Inter"/>
              </a:rPr>
              <a:t>Draw what you mean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1874519"/>
            <a:ext cx="8046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400"/>
              </a:spcAft>
            </a:pPr>
            <a:r>
              <a:rPr sz="1100" b="0">
                <a:solidFill>
                  <a:srgbClr val="A3A3A8"/>
                </a:solidFill>
                <a:latin typeface="Inter"/>
              </a:rPr>
              <a:t>Place network, compute, database, storage nodes on a live canvas; every wire is a real Terraform dependency edge.</a:t>
            </a:r>
          </a:p>
        </p:txBody>
      </p:sp>
      <p:sp>
        <p:nvSpPr>
          <p:cNvPr id="13" name="Oval 12"/>
          <p:cNvSpPr/>
          <p:nvPr/>
        </p:nvSpPr>
        <p:spPr>
          <a:xfrm>
            <a:off x="576072" y="2624327"/>
            <a:ext cx="64008" cy="640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2532887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FAFAFA"/>
                </a:solidFill>
                <a:latin typeface="Inter"/>
              </a:rPr>
              <a:t>HCL in real time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2532887"/>
            <a:ext cx="8046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400"/>
              </a:spcAft>
            </a:pPr>
            <a:r>
              <a:rPr sz="1100" b="0">
                <a:solidFill>
                  <a:srgbClr val="A3A3A8"/>
                </a:solidFill>
                <a:latin typeface="Inter"/>
              </a:rPr>
              <a:t>The code panel regenerates production-ready main.tf as you edit — what you see is literally what will plan.</a:t>
            </a:r>
          </a:p>
        </p:txBody>
      </p:sp>
      <p:sp>
        <p:nvSpPr>
          <p:cNvPr id="16" name="Oval 15"/>
          <p:cNvSpPr/>
          <p:nvPr/>
        </p:nvSpPr>
        <p:spPr>
          <a:xfrm>
            <a:off x="576072" y="3282695"/>
            <a:ext cx="64008" cy="640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191255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FAFAFA"/>
                </a:solidFill>
                <a:latin typeface="Inter"/>
              </a:rPr>
              <a:t>Reusable artifacts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1880" y="3191255"/>
            <a:ext cx="8046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400"/>
              </a:spcAft>
            </a:pPr>
            <a:r>
              <a:rPr sz="1100" b="0">
                <a:solidFill>
                  <a:srgbClr val="A3A3A8"/>
                </a:solidFill>
                <a:latin typeface="Inter"/>
              </a:rPr>
              <a:t>Designs save as named artifacts and hand off to the deployment pipeline in one click — no copy-paste bridge.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5074920"/>
            <a:ext cx="11183112" cy="1005840"/>
          </a:xfrm>
          <a:prstGeom prst="roundRect">
            <a:avLst>
              <a:gd name="adj" fmla="val 10000"/>
            </a:avLst>
          </a:prstGeom>
          <a:solidFill>
            <a:srgbClr val="141414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5230368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1">
                <a:solidFill>
                  <a:srgbClr val="4AD98A"/>
                </a:solidFill>
                <a:latin typeface="Consolas"/>
              </a:rPr>
              <a:t>LIVE DEMO PATH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504688"/>
            <a:ext cx="10607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FAFAFA"/>
                </a:solidFill>
                <a:latin typeface="Inter"/>
              </a:rPr>
              <a:t>Saved Designs → open designer → drop VPC + EC2 + RDS → wire network→compute→database → watch main.tf update live → Save.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6419088"/>
            <a:ext cx="192755" cy="192755"/>
          </a:xfrm>
          <a:prstGeom prst="roundRect">
            <a:avLst>
              <a:gd name="adj" fmla="val 2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onut 22"/>
          <p:cNvSpPr/>
          <p:nvPr/>
        </p:nvSpPr>
        <p:spPr>
          <a:xfrm>
            <a:off x="545439" y="6461607"/>
            <a:ext cx="107716" cy="107716"/>
          </a:xfrm>
          <a:prstGeom prst="donut">
            <a:avLst>
              <a:gd name="adj" fmla="val 30000"/>
            </a:avLst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19140" y="6461607"/>
            <a:ext cx="42519" cy="4251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75486" y="6491654"/>
            <a:ext cx="47621" cy="47621"/>
          </a:xfrm>
          <a:prstGeom prst="ellips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" y="6455664"/>
            <a:ext cx="3657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1">
                <a:solidFill>
                  <a:srgbClr val="6B6B72"/>
                </a:solidFill>
                <a:latin typeface="Inter"/>
              </a:rPr>
              <a:t>cloudweave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89920" y="6455664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6B6B72"/>
                </a:solidFill>
                <a:latin typeface="Consola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57200"/>
            <a:ext cx="310896" cy="310896"/>
          </a:xfrm>
          <a:prstGeom prst="roundRect">
            <a:avLst>
              <a:gd name="adj" fmla="val 2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onut 3"/>
          <p:cNvSpPr/>
          <p:nvPr/>
        </p:nvSpPr>
        <p:spPr>
          <a:xfrm>
            <a:off x="571500" y="525780"/>
            <a:ext cx="173736" cy="173736"/>
          </a:xfrm>
          <a:prstGeom prst="donut">
            <a:avLst>
              <a:gd name="adj" fmla="val 30000"/>
            </a:avLst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90372" y="525780"/>
            <a:ext cx="68580" cy="685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19963" y="574243"/>
            <a:ext cx="76809" cy="76809"/>
          </a:xfrm>
          <a:prstGeom prst="ellips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104120" y="530352"/>
            <a:ext cx="668655" cy="256032"/>
          </a:xfrm>
          <a:prstGeom prst="roundRect">
            <a:avLst>
              <a:gd name="adj" fmla="val 50000"/>
            </a:avLst>
          </a:prstGeom>
          <a:solidFill>
            <a:srgbClr val="1C1C1C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8" rIns="64008" tIns="0" bIns="0"/>
          <a:lstStyle/>
          <a:p>
            <a:pPr algn="ctr"/>
            <a:r>
              <a:rPr sz="950" b="1">
                <a:solidFill>
                  <a:srgbClr val="FAFAFA"/>
                </a:solidFill>
                <a:latin typeface="Consolas"/>
              </a:rPr>
              <a:t>MVP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566928"/>
            <a:ext cx="105613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FAFAFA"/>
                </a:solidFill>
                <a:latin typeface="Inter"/>
              </a:rPr>
              <a:t>Governed pipeline with policy + approvals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25296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A3A3A8"/>
                </a:solidFill>
                <a:latin typeface="Consolas"/>
              </a:rPr>
              <a:t>terraform plan · guardrails · named approval · apply</a:t>
            </a:r>
          </a:p>
        </p:txBody>
      </p:sp>
      <p:sp>
        <p:nvSpPr>
          <p:cNvPr id="10" name="Oval 9"/>
          <p:cNvSpPr/>
          <p:nvPr/>
        </p:nvSpPr>
        <p:spPr>
          <a:xfrm>
            <a:off x="576072" y="1965959"/>
            <a:ext cx="64008" cy="640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FAFAFA"/>
                </a:solidFill>
                <a:latin typeface="Inter"/>
              </a:rPr>
              <a:t>Plan in isolation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1874519"/>
            <a:ext cx="8046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400"/>
              </a:spcAft>
            </a:pPr>
            <a:r>
              <a:rPr sz="1100" b="0">
                <a:solidFill>
                  <a:srgbClr val="A3A3A8"/>
                </a:solidFill>
                <a:latin typeface="Inter"/>
              </a:rPr>
              <a:t>The worker runs terraform plan in a sandboxed runner — the UI never touches cloud APIs or credentials.</a:t>
            </a:r>
          </a:p>
        </p:txBody>
      </p:sp>
      <p:sp>
        <p:nvSpPr>
          <p:cNvPr id="13" name="Oval 12"/>
          <p:cNvSpPr/>
          <p:nvPr/>
        </p:nvSpPr>
        <p:spPr>
          <a:xfrm>
            <a:off x="576072" y="2624327"/>
            <a:ext cx="64008" cy="640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2532887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FAFAFA"/>
                </a:solidFill>
                <a:latin typeface="Inter"/>
              </a:rPr>
              <a:t>Policy before humans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2532887"/>
            <a:ext cx="8046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400"/>
              </a:spcAft>
            </a:pPr>
            <a:r>
              <a:rPr sz="1100" b="0">
                <a:solidFill>
                  <a:srgbClr val="A3A3A8"/>
                </a:solidFill>
                <a:latin typeface="Inter"/>
              </a:rPr>
              <a:t>A guardrail engine checks encryption, public exposure, and CIDR allowlists, and attaches verdicts to the diff for review.</a:t>
            </a:r>
          </a:p>
        </p:txBody>
      </p:sp>
      <p:sp>
        <p:nvSpPr>
          <p:cNvPr id="16" name="Oval 15"/>
          <p:cNvSpPr/>
          <p:nvPr/>
        </p:nvSpPr>
        <p:spPr>
          <a:xfrm>
            <a:off x="576072" y="3282695"/>
            <a:ext cx="64008" cy="640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191255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FAFAFA"/>
                </a:solidFill>
                <a:latin typeface="Inter"/>
              </a:rPr>
              <a:t>Receipts, not vibes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1880" y="3191255"/>
            <a:ext cx="8046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400"/>
              </a:spcAft>
            </a:pPr>
            <a:r>
              <a:rPr sz="1100" b="0">
                <a:solidFill>
                  <a:srgbClr val="A3A3A8"/>
                </a:solidFill>
                <a:latin typeface="Inter"/>
              </a:rPr>
              <a:t>A named approver signs exactly what will change; approvals land in the audit log. Destructive plans demand typed confirmation.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5074920"/>
            <a:ext cx="11183112" cy="1005840"/>
          </a:xfrm>
          <a:prstGeom prst="roundRect">
            <a:avLst>
              <a:gd name="adj" fmla="val 10000"/>
            </a:avLst>
          </a:prstGeom>
          <a:solidFill>
            <a:srgbClr val="141414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5230368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1">
                <a:solidFill>
                  <a:srgbClr val="4AD98A"/>
                </a:solidFill>
                <a:latin typeface="Consolas"/>
              </a:rPr>
              <a:t>LIVE DEMO PATH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504688"/>
            <a:ext cx="10607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FAFAFA"/>
                </a:solidFill>
                <a:latin typeface="Inter"/>
              </a:rPr>
              <a:t>Launch AWS EC2 Web Server → configure → plan shows diff + cost + policy results → approve (recorded) → apply → resources appear in inventory.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6419088"/>
            <a:ext cx="192755" cy="192755"/>
          </a:xfrm>
          <a:prstGeom prst="roundRect">
            <a:avLst>
              <a:gd name="adj" fmla="val 2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onut 22"/>
          <p:cNvSpPr/>
          <p:nvPr/>
        </p:nvSpPr>
        <p:spPr>
          <a:xfrm>
            <a:off x="545439" y="6461607"/>
            <a:ext cx="107716" cy="107716"/>
          </a:xfrm>
          <a:prstGeom prst="donut">
            <a:avLst>
              <a:gd name="adj" fmla="val 30000"/>
            </a:avLst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19140" y="6461607"/>
            <a:ext cx="42519" cy="4251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75486" y="6491654"/>
            <a:ext cx="47621" cy="47621"/>
          </a:xfrm>
          <a:prstGeom prst="ellips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" y="6455664"/>
            <a:ext cx="3657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1">
                <a:solidFill>
                  <a:srgbClr val="6B6B72"/>
                </a:solidFill>
                <a:latin typeface="Inter"/>
              </a:rPr>
              <a:t>cloudweave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89920" y="6455664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6B6B72"/>
                </a:solidFill>
                <a:latin typeface="Consola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57200"/>
            <a:ext cx="310896" cy="310896"/>
          </a:xfrm>
          <a:prstGeom prst="roundRect">
            <a:avLst>
              <a:gd name="adj" fmla="val 2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onut 3"/>
          <p:cNvSpPr/>
          <p:nvPr/>
        </p:nvSpPr>
        <p:spPr>
          <a:xfrm>
            <a:off x="571500" y="525780"/>
            <a:ext cx="173736" cy="173736"/>
          </a:xfrm>
          <a:prstGeom prst="donut">
            <a:avLst>
              <a:gd name="adj" fmla="val 30000"/>
            </a:avLst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90372" y="525780"/>
            <a:ext cx="68580" cy="685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19963" y="574243"/>
            <a:ext cx="76809" cy="76809"/>
          </a:xfrm>
          <a:prstGeom prst="ellips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104120" y="530352"/>
            <a:ext cx="668655" cy="256032"/>
          </a:xfrm>
          <a:prstGeom prst="roundRect">
            <a:avLst>
              <a:gd name="adj" fmla="val 50000"/>
            </a:avLst>
          </a:prstGeom>
          <a:solidFill>
            <a:srgbClr val="1C1C1C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8" rIns="64008" tIns="0" bIns="0"/>
          <a:lstStyle/>
          <a:p>
            <a:pPr algn="ctr"/>
            <a:r>
              <a:rPr sz="950" b="1">
                <a:solidFill>
                  <a:srgbClr val="FAFAFA"/>
                </a:solidFill>
                <a:latin typeface="Consolas"/>
              </a:rPr>
              <a:t>MVP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566928"/>
            <a:ext cx="105613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FAFAFA"/>
                </a:solidFill>
                <a:latin typeface="Inter"/>
              </a:rPr>
              <a:t>Operate surface: inventory, topology, costs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25296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A3A3A8"/>
                </a:solidFill>
                <a:latin typeface="Consolas"/>
              </a:rPr>
              <a:t>recorded resources · dependency graph · cost advisor</a:t>
            </a:r>
          </a:p>
        </p:txBody>
      </p:sp>
      <p:sp>
        <p:nvSpPr>
          <p:cNvPr id="10" name="Oval 9"/>
          <p:cNvSpPr/>
          <p:nvPr/>
        </p:nvSpPr>
        <p:spPr>
          <a:xfrm>
            <a:off x="576072" y="1965959"/>
            <a:ext cx="64008" cy="640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FAFAFA"/>
                </a:solidFill>
                <a:latin typeface="Inter"/>
              </a:rPr>
              <a:t>Truthful inventory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1874519"/>
            <a:ext cx="8046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400"/>
              </a:spcAft>
            </a:pPr>
            <a:r>
              <a:rPr sz="1100" b="0">
                <a:solidFill>
                  <a:srgbClr val="A3A3A8"/>
                </a:solidFill>
                <a:latin typeface="Inter"/>
              </a:rPr>
              <a:t>Every apply records provisioned resources grouped by kind, linked to deployments, searchable across clouds. Teardown flips them to DESTROYED.</a:t>
            </a:r>
          </a:p>
        </p:txBody>
      </p:sp>
      <p:sp>
        <p:nvSpPr>
          <p:cNvPr id="13" name="Oval 12"/>
          <p:cNvSpPr/>
          <p:nvPr/>
        </p:nvSpPr>
        <p:spPr>
          <a:xfrm>
            <a:off x="576072" y="2624327"/>
            <a:ext cx="64008" cy="640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2532887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FAFAFA"/>
                </a:solidFill>
                <a:latin typeface="Inter"/>
              </a:rPr>
              <a:t>Topology = blast radius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2532887"/>
            <a:ext cx="8046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400"/>
              </a:spcAft>
            </a:pPr>
            <a:r>
              <a:rPr sz="1100" b="0">
                <a:solidFill>
                  <a:srgbClr val="A3A3A8"/>
                </a:solidFill>
                <a:latin typeface="Inter"/>
              </a:rPr>
              <a:t>A live dependency graph (network → compute → database) shows what a change or teardown would touch before you commit.</a:t>
            </a:r>
          </a:p>
        </p:txBody>
      </p:sp>
      <p:sp>
        <p:nvSpPr>
          <p:cNvPr id="16" name="Oval 15"/>
          <p:cNvSpPr/>
          <p:nvPr/>
        </p:nvSpPr>
        <p:spPr>
          <a:xfrm>
            <a:off x="576072" y="3282695"/>
            <a:ext cx="64008" cy="640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191255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FAFAFA"/>
                </a:solidFill>
                <a:latin typeface="Inter"/>
              </a:rPr>
              <a:t>Cost before the bill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1880" y="3191255"/>
            <a:ext cx="8046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400"/>
              </a:spcAft>
            </a:pPr>
            <a:r>
              <a:rPr sz="1100" b="0">
                <a:solidFill>
                  <a:srgbClr val="A3A3A8"/>
                </a:solidFill>
                <a:latin typeface="Inter"/>
              </a:rPr>
              <a:t>Offline rate card prices every plan; an advisor flags idle sandboxes, oversized volumes, non-prod redundancy, region arbitrage — with projected savings.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5074920"/>
            <a:ext cx="11183112" cy="1005840"/>
          </a:xfrm>
          <a:prstGeom prst="roundRect">
            <a:avLst>
              <a:gd name="adj" fmla="val 10000"/>
            </a:avLst>
          </a:prstGeom>
          <a:solidFill>
            <a:srgbClr val="141414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5230368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1">
                <a:solidFill>
                  <a:srgbClr val="4AD98A"/>
                </a:solidFill>
                <a:latin typeface="Consolas"/>
              </a:rPr>
              <a:t>LIVE DEMO PATH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504688"/>
            <a:ext cx="10607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FAFAFA"/>
                </a:solidFill>
                <a:latin typeface="Inter"/>
              </a:rPr>
              <a:t>Resources → Topology → Costs: $78.40/mo current, advisor projects $36.45/mo (−54%) with concrete steps per recommendation.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6419088"/>
            <a:ext cx="192755" cy="192755"/>
          </a:xfrm>
          <a:prstGeom prst="roundRect">
            <a:avLst>
              <a:gd name="adj" fmla="val 2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onut 22"/>
          <p:cNvSpPr/>
          <p:nvPr/>
        </p:nvSpPr>
        <p:spPr>
          <a:xfrm>
            <a:off x="545439" y="6461607"/>
            <a:ext cx="107716" cy="107716"/>
          </a:xfrm>
          <a:prstGeom prst="donut">
            <a:avLst>
              <a:gd name="adj" fmla="val 30000"/>
            </a:avLst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19140" y="6461607"/>
            <a:ext cx="42519" cy="4251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75486" y="6491654"/>
            <a:ext cx="47621" cy="47621"/>
          </a:xfrm>
          <a:prstGeom prst="ellips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" y="6455664"/>
            <a:ext cx="3657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1">
                <a:solidFill>
                  <a:srgbClr val="6B6B72"/>
                </a:solidFill>
                <a:latin typeface="Inter"/>
              </a:rPr>
              <a:t>cloudweave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89920" y="6455664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6B6B72"/>
                </a:solidFill>
                <a:latin typeface="Consola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57200"/>
            <a:ext cx="310896" cy="310896"/>
          </a:xfrm>
          <a:prstGeom prst="roundRect">
            <a:avLst>
              <a:gd name="adj" fmla="val 2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onut 3"/>
          <p:cNvSpPr/>
          <p:nvPr/>
        </p:nvSpPr>
        <p:spPr>
          <a:xfrm>
            <a:off x="571500" y="525780"/>
            <a:ext cx="173736" cy="173736"/>
          </a:xfrm>
          <a:prstGeom prst="donut">
            <a:avLst>
              <a:gd name="adj" fmla="val 30000"/>
            </a:avLst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90372" y="525780"/>
            <a:ext cx="68580" cy="685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19963" y="574243"/>
            <a:ext cx="76809" cy="76809"/>
          </a:xfrm>
          <a:prstGeom prst="ellips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" y="566928"/>
            <a:ext cx="105613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FAFAFA"/>
                </a:solidFill>
                <a:latin typeface="Inter"/>
              </a:rPr>
              <a:t>Technical architecture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78992" y="1298448"/>
            <a:ext cx="2377440" cy="274320"/>
          </a:xfrm>
          <a:prstGeom prst="roundRect">
            <a:avLst>
              <a:gd name="adj" fmla="val 50000"/>
            </a:avLst>
          </a:prstGeom>
          <a:solidFill>
            <a:srgbClr val="1C1C1C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/>
            <a:r>
              <a:rPr sz="950" b="1">
                <a:solidFill>
                  <a:srgbClr val="A3A3A8"/>
                </a:solidFill>
                <a:latin typeface="Consolas"/>
              </a:rPr>
              <a:t>FIVE LAYERS · ONE GOVERNED PATH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28800"/>
            <a:ext cx="2002536" cy="1051560"/>
          </a:xfrm>
          <a:prstGeom prst="roundRect">
            <a:avLst>
              <a:gd name="adj" fmla="val 10000"/>
            </a:avLst>
          </a:prstGeom>
          <a:solidFill>
            <a:srgbClr val="141414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" y="1938528"/>
            <a:ext cx="17465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FAFAFA"/>
                </a:solidFill>
                <a:latin typeface="Inter"/>
              </a:rPr>
              <a:t>Client layer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" y="2249424"/>
            <a:ext cx="174650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b="0">
                <a:solidFill>
                  <a:srgbClr val="A3A3A8"/>
                </a:solidFill>
                <a:latin typeface="Consolas"/>
              </a:rPr>
              <a:t>browser · Next.js 15 dashboard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05456" y="2212848"/>
            <a:ext cx="29260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6B6B72"/>
                </a:solidFill>
                <a:latin typeface="Inter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98064" y="1828800"/>
            <a:ext cx="2002536" cy="1051560"/>
          </a:xfrm>
          <a:prstGeom prst="roundRect">
            <a:avLst>
              <a:gd name="adj" fmla="val 10000"/>
            </a:avLst>
          </a:prstGeom>
          <a:solidFill>
            <a:srgbClr val="141414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26080" y="1938528"/>
            <a:ext cx="17465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FAFAFA"/>
                </a:solidFill>
                <a:latin typeface="Inter"/>
              </a:rPr>
              <a:t>Control plane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2249424"/>
            <a:ext cx="174650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b="0">
                <a:solidFill>
                  <a:srgbClr val="A3A3A8"/>
                </a:solidFill>
                <a:latin typeface="Consolas"/>
              </a:rPr>
              <a:t>Express API · JWT · RBAC · Zod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212848"/>
            <a:ext cx="29260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6B6B72"/>
                </a:solidFill>
                <a:latin typeface="Inter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93208" y="1828800"/>
            <a:ext cx="2002536" cy="1051560"/>
          </a:xfrm>
          <a:prstGeom prst="roundRect">
            <a:avLst>
              <a:gd name="adj" fmla="val 10000"/>
            </a:avLst>
          </a:prstGeom>
          <a:solidFill>
            <a:srgbClr val="141414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21224" y="1938528"/>
            <a:ext cx="17465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FAFAFA"/>
                </a:solidFill>
                <a:latin typeface="Inter"/>
              </a:rPr>
              <a:t>Platform services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21224" y="2249424"/>
            <a:ext cx="174650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b="0">
                <a:solidFill>
                  <a:srgbClr val="A3A3A8"/>
                </a:solidFill>
                <a:latin typeface="Consolas"/>
              </a:rPr>
              <a:t>templates · policy · cost · designs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95744" y="2212848"/>
            <a:ext cx="29260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6B6B72"/>
                </a:solidFill>
                <a:latin typeface="Inter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88352" y="1828800"/>
            <a:ext cx="2002536" cy="1051560"/>
          </a:xfrm>
          <a:prstGeom prst="roundRect">
            <a:avLst>
              <a:gd name="adj" fmla="val 10000"/>
            </a:avLst>
          </a:prstGeom>
          <a:solidFill>
            <a:srgbClr val="141414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16368" y="1938528"/>
            <a:ext cx="17465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FAFAFA"/>
                </a:solidFill>
                <a:latin typeface="Inter"/>
              </a:rPr>
              <a:t>Async execution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16368" y="2249424"/>
            <a:ext cx="174650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b="0">
                <a:solidFill>
                  <a:srgbClr val="A3A3A8"/>
                </a:solidFill>
                <a:latin typeface="Consolas"/>
              </a:rPr>
              <a:t>job queue → terraform worker · isolated workspace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90888" y="2212848"/>
            <a:ext cx="29260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6B6B72"/>
                </a:solidFill>
                <a:latin typeface="Inter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83496" y="1828800"/>
            <a:ext cx="2002536" cy="1051560"/>
          </a:xfrm>
          <a:prstGeom prst="roundRect">
            <a:avLst>
              <a:gd name="adj" fmla="val 10000"/>
            </a:avLst>
          </a:prstGeom>
          <a:solidFill>
            <a:srgbClr val="141414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11512" y="1938528"/>
            <a:ext cx="17465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FAFAFA"/>
                </a:solidFill>
                <a:latin typeface="Inter"/>
              </a:rPr>
              <a:t>IaC engine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11512" y="2249424"/>
            <a:ext cx="174650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b="0">
                <a:solidFill>
                  <a:srgbClr val="A3A3A8"/>
                </a:solidFill>
                <a:latin typeface="Consolas"/>
              </a:rPr>
              <a:t>terraform plan · apply · destroy · 12 modules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2907792"/>
            <a:ext cx="960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00" b="0">
                <a:solidFill>
                  <a:srgbClr val="6B6B72"/>
                </a:solidFill>
                <a:latin typeface="Consolas"/>
              </a:rPr>
              <a:t>prisma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46120" y="2907792"/>
            <a:ext cx="4572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6B6B72"/>
                </a:solidFill>
                <a:latin typeface="Inter"/>
              </a:rPr>
              <a:t>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18320" y="2907792"/>
            <a:ext cx="100584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00" b="0">
                <a:solidFill>
                  <a:srgbClr val="6B6B72"/>
                </a:solidFill>
                <a:latin typeface="Consolas"/>
              </a:rPr>
              <a:t>provider api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0" y="2907792"/>
            <a:ext cx="4572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6B6B72"/>
                </a:solidFill>
                <a:latin typeface="Inter"/>
              </a:rPr>
              <a:t>↓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" y="3246120"/>
            <a:ext cx="3291840" cy="1234440"/>
          </a:xfrm>
          <a:prstGeom prst="roundRect">
            <a:avLst>
              <a:gd name="adj" fmla="val 10000"/>
            </a:avLst>
          </a:prstGeom>
          <a:solidFill>
            <a:srgbClr val="141414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" y="3355848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FAFAFA"/>
                </a:solidFill>
                <a:latin typeface="Inter"/>
              </a:rPr>
              <a:t>Data layer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3666744"/>
            <a:ext cx="29260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00" b="0">
                <a:solidFill>
                  <a:srgbClr val="A3A3A8"/>
                </a:solidFill>
                <a:latin typeface="Inter"/>
              </a:rPr>
              <a:t>PostgreSQL + Prisma — users · projects · environments · deployments · resources · audit logs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4197096"/>
            <a:ext cx="2926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00" b="0">
                <a:solidFill>
                  <a:srgbClr val="6B6B72"/>
                </a:solidFill>
                <a:latin typeface="Consolas"/>
              </a:rPr>
              <a:t>AES-256-GCM credential vault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023360" y="3246120"/>
            <a:ext cx="7662672" cy="1234440"/>
          </a:xfrm>
          <a:prstGeom prst="roundRect">
            <a:avLst>
              <a:gd name="adj" fmla="val 8000"/>
            </a:avLst>
          </a:prstGeom>
          <a:solidFill>
            <a:srgbClr val="1C1C1C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224528" y="3337560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FAFAFA"/>
                </a:solidFill>
                <a:latin typeface="Inter"/>
              </a:rPr>
              <a:t>Managed cloud infrastructure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224528" y="3648456"/>
            <a:ext cx="2286000" cy="658368"/>
          </a:xfrm>
          <a:prstGeom prst="roundRect">
            <a:avLst>
              <a:gd name="adj" fmla="val 12000"/>
            </a:avLst>
          </a:prstGeom>
          <a:solidFill>
            <a:srgbClr val="141414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352544" y="3721608"/>
            <a:ext cx="20116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1">
                <a:solidFill>
                  <a:srgbClr val="FAFAFA"/>
                </a:solidFill>
                <a:latin typeface="Inter"/>
              </a:rPr>
              <a:t>AWS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52544" y="3977640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750" b="0">
                <a:solidFill>
                  <a:srgbClr val="A3A3A8"/>
                </a:solidFill>
                <a:latin typeface="Consolas"/>
              </a:rPr>
              <a:t>VPC · EC2 · RDS · S3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729984" y="3648456"/>
            <a:ext cx="2286000" cy="658368"/>
          </a:xfrm>
          <a:prstGeom prst="roundRect">
            <a:avLst>
              <a:gd name="adj" fmla="val 12000"/>
            </a:avLst>
          </a:prstGeom>
          <a:solidFill>
            <a:srgbClr val="141414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0" y="3721608"/>
            <a:ext cx="20116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1">
                <a:solidFill>
                  <a:srgbClr val="FAFAFA"/>
                </a:solidFill>
                <a:latin typeface="Inter"/>
              </a:rPr>
              <a:t>Azure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0" y="3977640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750" b="0">
                <a:solidFill>
                  <a:srgbClr val="A3A3A8"/>
                </a:solidFill>
                <a:latin typeface="Consolas"/>
              </a:rPr>
              <a:t>VNet · VMs · Blob Storage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235440" y="3648456"/>
            <a:ext cx="2286000" cy="658368"/>
          </a:xfrm>
          <a:prstGeom prst="roundRect">
            <a:avLst>
              <a:gd name="adj" fmla="val 12000"/>
            </a:avLst>
          </a:prstGeom>
          <a:solidFill>
            <a:srgbClr val="141414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363456" y="3721608"/>
            <a:ext cx="20116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1">
                <a:solidFill>
                  <a:srgbClr val="FAFAFA"/>
                </a:solidFill>
                <a:latin typeface="Inter"/>
              </a:rPr>
              <a:t>GCP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63456" y="3977640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750" b="0">
                <a:solidFill>
                  <a:srgbClr val="A3A3A8"/>
                </a:solidFill>
                <a:latin typeface="Consolas"/>
              </a:rPr>
              <a:t>VPC · Compute Engine · SQL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2920" y="4553712"/>
            <a:ext cx="1118311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6B6B72"/>
                </a:solidFill>
                <a:latin typeface="Consolas"/>
              </a:rPr>
              <a:t>outputs → recorded inventory → topology &amp; cost rollups → audit trail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02920" y="4773168"/>
            <a:ext cx="3575304" cy="868680"/>
          </a:xfrm>
          <a:prstGeom prst="roundRect">
            <a:avLst>
              <a:gd name="adj" fmla="val 10000"/>
            </a:avLst>
          </a:prstGeom>
          <a:solidFill>
            <a:srgbClr val="141414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9224" y="4882896"/>
            <a:ext cx="328269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FAFAFA"/>
                </a:solidFill>
                <a:latin typeface="Inter"/>
              </a:rPr>
              <a:t>Resource inventory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9224" y="5157216"/>
            <a:ext cx="3282696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850" b="0">
                <a:solidFill>
                  <a:srgbClr val="A3A3A8"/>
                </a:solidFill>
                <a:latin typeface="Inter"/>
              </a:rPr>
              <a:t>every apply records resources cross-cloud; teardown flips them to DESTROYED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306824" y="4773168"/>
            <a:ext cx="3575304" cy="868680"/>
          </a:xfrm>
          <a:prstGeom prst="roundRect">
            <a:avLst>
              <a:gd name="adj" fmla="val 10000"/>
            </a:avLst>
          </a:prstGeom>
          <a:solidFill>
            <a:srgbClr val="141414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453128" y="4882896"/>
            <a:ext cx="328269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FAFAFA"/>
                </a:solidFill>
                <a:latin typeface="Inter"/>
              </a:rPr>
              <a:t>Topology &amp; costs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453128" y="5157216"/>
            <a:ext cx="3282696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850" b="0">
                <a:solidFill>
                  <a:srgbClr val="A3A3A8"/>
                </a:solidFill>
                <a:latin typeface="Inter"/>
              </a:rPr>
              <a:t>dependency graph = blast radius; rate-card estimates + optimization advisor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110728" y="4773168"/>
            <a:ext cx="3575304" cy="868680"/>
          </a:xfrm>
          <a:prstGeom prst="roundRect">
            <a:avLst>
              <a:gd name="adj" fmla="val 10000"/>
            </a:avLst>
          </a:prstGeom>
          <a:solidFill>
            <a:srgbClr val="141414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257032" y="4882896"/>
            <a:ext cx="328269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FAFAFA"/>
                </a:solidFill>
                <a:latin typeface="Inter"/>
              </a:rPr>
              <a:t>Audit &amp; observability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257032" y="5157216"/>
            <a:ext cx="3282696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850" b="0">
                <a:solidFill>
                  <a:srgbClr val="A3A3A8"/>
                </a:solidFill>
                <a:latin typeface="Inter"/>
              </a:rPr>
              <a:t>append-only actor · verb · target on every transition; worker logs &amp; job status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502920" y="5806440"/>
            <a:ext cx="11183112" cy="475488"/>
          </a:xfrm>
          <a:prstGeom prst="roundRect">
            <a:avLst>
              <a:gd name="adj" fmla="val 16000"/>
            </a:avLst>
          </a:prstGeom>
          <a:solidFill>
            <a:srgbClr val="1C1C1C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77240" y="5806440"/>
            <a:ext cx="83210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0">
                <a:solidFill>
                  <a:srgbClr val="A3A3A8"/>
                </a:solidFill>
                <a:latin typeface="Inter"/>
              </a:rPr>
              <a:t>The frontend never touches cloud APIs — execution flows only through the queue and sandboxed worker; every transition lands in the audit log.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9281160" y="5916168"/>
            <a:ext cx="1989048" cy="256032"/>
          </a:xfrm>
          <a:prstGeom prst="roundRect">
            <a:avLst>
              <a:gd name="adj" fmla="val 50000"/>
            </a:avLst>
          </a:prstGeom>
          <a:solidFill>
            <a:srgbClr val="1C1C1C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8" rIns="64008" tIns="0" bIns="0"/>
          <a:lstStyle/>
          <a:p>
            <a:pPr algn="ctr"/>
            <a:r>
              <a:rPr sz="950" b="1">
                <a:solidFill>
                  <a:srgbClr val="4AD98A"/>
                </a:solidFill>
                <a:latin typeface="Consolas"/>
              </a:rPr>
              <a:t>251/251 backend tests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02920" y="6419088"/>
            <a:ext cx="192755" cy="192755"/>
          </a:xfrm>
          <a:prstGeom prst="roundRect">
            <a:avLst>
              <a:gd name="adj" fmla="val 2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Donut 60"/>
          <p:cNvSpPr/>
          <p:nvPr/>
        </p:nvSpPr>
        <p:spPr>
          <a:xfrm>
            <a:off x="545439" y="6461607"/>
            <a:ext cx="107716" cy="107716"/>
          </a:xfrm>
          <a:prstGeom prst="donut">
            <a:avLst>
              <a:gd name="adj" fmla="val 30000"/>
            </a:avLst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619140" y="6461607"/>
            <a:ext cx="42519" cy="4251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575486" y="6491654"/>
            <a:ext cx="47621" cy="47621"/>
          </a:xfrm>
          <a:prstGeom prst="ellips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60120" y="6455664"/>
            <a:ext cx="3657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1">
                <a:solidFill>
                  <a:srgbClr val="6B6B72"/>
                </a:solidFill>
                <a:latin typeface="Inter"/>
              </a:rPr>
              <a:t>cloudweave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789920" y="6455664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6B6B72"/>
                </a:solidFill>
                <a:latin typeface="Consola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57200"/>
            <a:ext cx="310896" cy="310896"/>
          </a:xfrm>
          <a:prstGeom prst="roundRect">
            <a:avLst>
              <a:gd name="adj" fmla="val 2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onut 3"/>
          <p:cNvSpPr/>
          <p:nvPr/>
        </p:nvSpPr>
        <p:spPr>
          <a:xfrm>
            <a:off x="571500" y="525780"/>
            <a:ext cx="173736" cy="173736"/>
          </a:xfrm>
          <a:prstGeom prst="donut">
            <a:avLst>
              <a:gd name="adj" fmla="val 30000"/>
            </a:avLst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90372" y="525780"/>
            <a:ext cx="68580" cy="685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19963" y="574243"/>
            <a:ext cx="76809" cy="76809"/>
          </a:xfrm>
          <a:prstGeom prst="ellips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" y="566928"/>
            <a:ext cx="105613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FAFAFA"/>
                </a:solidFill>
                <a:latin typeface="Inter"/>
              </a:rPr>
              <a:t>Workflow architecture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78992" y="1298448"/>
            <a:ext cx="2377440" cy="274320"/>
          </a:xfrm>
          <a:prstGeom prst="roundRect">
            <a:avLst>
              <a:gd name="adj" fmla="val 50000"/>
            </a:avLst>
          </a:prstGeom>
          <a:solidFill>
            <a:srgbClr val="1C1C1C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/>
            <a:r>
              <a:rPr sz="950" b="1">
                <a:solidFill>
                  <a:srgbClr val="A3A3A8"/>
                </a:solidFill>
                <a:latin typeface="Consolas"/>
              </a:rPr>
              <a:t>END-TO-END CONTROLLED LIFECYCLE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783080"/>
            <a:ext cx="2699766" cy="914400"/>
          </a:xfrm>
          <a:prstGeom prst="roundRect">
            <a:avLst>
              <a:gd name="adj" fmla="val 8000"/>
            </a:avLst>
          </a:prstGeom>
          <a:solidFill>
            <a:srgbClr val="141414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30936" y="1901952"/>
            <a:ext cx="395020" cy="256032"/>
          </a:xfrm>
          <a:prstGeom prst="roundRect">
            <a:avLst>
              <a:gd name="adj" fmla="val 50000"/>
            </a:avLst>
          </a:prstGeom>
          <a:solidFill>
            <a:srgbClr val="1C1C1C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8" rIns="64008" tIns="0" bIns="0"/>
          <a:lstStyle/>
          <a:p>
            <a:pPr algn="ctr"/>
            <a:r>
              <a:rPr sz="800" b="1">
                <a:solidFill>
                  <a:srgbClr val="6B6B72"/>
                </a:solidFill>
                <a:latin typeface="Consola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" y="1883664"/>
            <a:ext cx="200482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FAFAFA"/>
                </a:solidFill>
                <a:latin typeface="Inter"/>
              </a:rPr>
              <a:t>User &amp; roles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" y="2194560"/>
            <a:ext cx="2443734" cy="39319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800" b="0">
                <a:solidFill>
                  <a:srgbClr val="A3A3A8"/>
                </a:solidFill>
                <a:latin typeface="Inter"/>
              </a:rPr>
              <a:t>ADMIN governs accounts &amp; policy · DEVELOPER provisions · VIEWER read-only — RBAC enforced on every route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30702" y="1783080"/>
            <a:ext cx="2699766" cy="914400"/>
          </a:xfrm>
          <a:prstGeom prst="roundRect">
            <a:avLst>
              <a:gd name="adj" fmla="val 8000"/>
            </a:avLst>
          </a:prstGeom>
          <a:solidFill>
            <a:srgbClr val="141414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458718" y="1901952"/>
            <a:ext cx="395020" cy="256032"/>
          </a:xfrm>
          <a:prstGeom prst="roundRect">
            <a:avLst>
              <a:gd name="adj" fmla="val 50000"/>
            </a:avLst>
          </a:prstGeom>
          <a:solidFill>
            <a:srgbClr val="1C1C1C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8" rIns="64008" tIns="0" bIns="0"/>
          <a:lstStyle/>
          <a:p>
            <a:pPr algn="ctr"/>
            <a:r>
              <a:rPr sz="800" b="1">
                <a:solidFill>
                  <a:srgbClr val="6B6B72"/>
                </a:solidFill>
                <a:latin typeface="Consola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97630" y="1883664"/>
            <a:ext cx="200482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FAFAFA"/>
                </a:solidFill>
                <a:latin typeface="Inter"/>
              </a:rPr>
              <a:t>Project &amp; cloud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58718" y="2194560"/>
            <a:ext cx="2443734" cy="39319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800" b="0">
                <a:solidFill>
                  <a:srgbClr val="A3A3A8"/>
                </a:solidFill>
                <a:latin typeface="Inter"/>
              </a:rPr>
              <a:t>Admin scopes projects + environments · Developer binds a validated cloud account (AWS · Azure · GCP)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58484" y="1783080"/>
            <a:ext cx="2699766" cy="914400"/>
          </a:xfrm>
          <a:prstGeom prst="roundRect">
            <a:avLst>
              <a:gd name="adj" fmla="val 8000"/>
            </a:avLst>
          </a:prstGeom>
          <a:solidFill>
            <a:srgbClr val="141414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86500" y="1901952"/>
            <a:ext cx="395020" cy="256032"/>
          </a:xfrm>
          <a:prstGeom prst="roundRect">
            <a:avLst>
              <a:gd name="adj" fmla="val 50000"/>
            </a:avLst>
          </a:prstGeom>
          <a:solidFill>
            <a:srgbClr val="1C1C1C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8" rIns="64008" tIns="0" bIns="0"/>
          <a:lstStyle/>
          <a:p>
            <a:pPr algn="ctr"/>
            <a:r>
              <a:rPr sz="800" b="1">
                <a:solidFill>
                  <a:srgbClr val="6B6B72"/>
                </a:solidFill>
                <a:latin typeface="Consola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5412" y="1883664"/>
            <a:ext cx="200482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FAFAFA"/>
                </a:solidFill>
                <a:latin typeface="Inter"/>
              </a:rPr>
              <a:t>Template &amp; config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86500" y="2194560"/>
            <a:ext cx="2443734" cy="39319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800" b="0">
                <a:solidFill>
                  <a:srgbClr val="A3A3A8"/>
                </a:solidFill>
                <a:latin typeface="Inter"/>
              </a:rPr>
              <a:t>Catalog → JSON-schema contract → region · size · storage parameters with safe defaults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86266" y="1783080"/>
            <a:ext cx="2699766" cy="914400"/>
          </a:xfrm>
          <a:prstGeom prst="roundRect">
            <a:avLst>
              <a:gd name="adj" fmla="val 8000"/>
            </a:avLst>
          </a:prstGeom>
          <a:solidFill>
            <a:srgbClr val="141414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14282" y="1901952"/>
            <a:ext cx="395020" cy="256032"/>
          </a:xfrm>
          <a:prstGeom prst="roundRect">
            <a:avLst>
              <a:gd name="adj" fmla="val 50000"/>
            </a:avLst>
          </a:prstGeom>
          <a:solidFill>
            <a:srgbClr val="1C1C1C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8" rIns="64008" tIns="0" bIns="0"/>
          <a:lstStyle/>
          <a:p>
            <a:pPr algn="ctr"/>
            <a:r>
              <a:rPr sz="800" b="1">
                <a:solidFill>
                  <a:srgbClr val="6B6B72"/>
                </a:solidFill>
                <a:latin typeface="Consolas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53194" y="1883664"/>
            <a:ext cx="200482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FAFAFA"/>
                </a:solidFill>
                <a:latin typeface="Inter"/>
              </a:rPr>
              <a:t>Validate &amp; cost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14282" y="2194560"/>
            <a:ext cx="2443734" cy="39319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800" b="0">
                <a:solidFill>
                  <a:srgbClr val="A3A3A8"/>
                </a:solidFill>
                <a:latin typeface="Inter"/>
              </a:rPr>
              <a:t>Invalid config rejected early · monthly estimate per provider surfaces before approval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2825496"/>
            <a:ext cx="2699766" cy="914400"/>
          </a:xfrm>
          <a:prstGeom prst="roundRect">
            <a:avLst>
              <a:gd name="adj" fmla="val 8000"/>
            </a:avLst>
          </a:prstGeom>
          <a:solidFill>
            <a:srgbClr val="141414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30936" y="2944368"/>
            <a:ext cx="395020" cy="256032"/>
          </a:xfrm>
          <a:prstGeom prst="roundRect">
            <a:avLst>
              <a:gd name="adj" fmla="val 50000"/>
            </a:avLst>
          </a:prstGeom>
          <a:solidFill>
            <a:srgbClr val="1C1C1C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8" rIns="64008" tIns="0" bIns="0"/>
          <a:lstStyle/>
          <a:p>
            <a:pPr algn="ctr"/>
            <a:r>
              <a:rPr sz="800" b="1">
                <a:solidFill>
                  <a:srgbClr val="6B6B72"/>
                </a:solidFill>
                <a:latin typeface="Consolas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9848" y="2926080"/>
            <a:ext cx="200482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FAFAFA"/>
                </a:solidFill>
                <a:latin typeface="Inter"/>
              </a:rPr>
              <a:t>Plan &amp; policy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" y="3236976"/>
            <a:ext cx="2443734" cy="39319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800" b="0">
                <a:solidFill>
                  <a:srgbClr val="A3A3A8"/>
                </a:solidFill>
                <a:latin typeface="Inter"/>
              </a:rPr>
              <a:t>Terraform diff CREATE / MODIFY / DELETE · guardrails: encryption · exposure · CIDRs · destructive protection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330702" y="2825496"/>
            <a:ext cx="2699766" cy="914400"/>
          </a:xfrm>
          <a:prstGeom prst="roundRect">
            <a:avLst>
              <a:gd name="adj" fmla="val 8000"/>
            </a:avLst>
          </a:prstGeom>
          <a:solidFill>
            <a:srgbClr val="141414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3458718" y="2944368"/>
            <a:ext cx="395020" cy="256032"/>
          </a:xfrm>
          <a:prstGeom prst="roundRect">
            <a:avLst>
              <a:gd name="adj" fmla="val 50000"/>
            </a:avLst>
          </a:prstGeom>
          <a:solidFill>
            <a:srgbClr val="1C1C1C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8" rIns="64008" tIns="0" bIns="0"/>
          <a:lstStyle/>
          <a:p>
            <a:pPr algn="ctr"/>
            <a:r>
              <a:rPr sz="800" b="1">
                <a:solidFill>
                  <a:srgbClr val="6B6B72"/>
                </a:solidFill>
                <a:latin typeface="Consolas"/>
              </a:rPr>
              <a:t>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97630" y="2926080"/>
            <a:ext cx="200482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FAFAFA"/>
                </a:solidFill>
                <a:latin typeface="Inter"/>
              </a:rPr>
              <a:t>Approval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58718" y="3236976"/>
            <a:ext cx="2443734" cy="39319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800" b="0">
                <a:solidFill>
                  <a:srgbClr val="A3A3A8"/>
                </a:solidFill>
                <a:latin typeface="Inter"/>
              </a:rPr>
              <a:t>Named approver signs the exact plan · rejection notifies the developer with reason · every decision audited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58484" y="2825496"/>
            <a:ext cx="2699766" cy="914400"/>
          </a:xfrm>
          <a:prstGeom prst="roundRect">
            <a:avLst>
              <a:gd name="adj" fmla="val 8000"/>
            </a:avLst>
          </a:prstGeom>
          <a:solidFill>
            <a:srgbClr val="141414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286500" y="2944368"/>
            <a:ext cx="395020" cy="256032"/>
          </a:xfrm>
          <a:prstGeom prst="roundRect">
            <a:avLst>
              <a:gd name="adj" fmla="val 50000"/>
            </a:avLst>
          </a:prstGeom>
          <a:solidFill>
            <a:srgbClr val="1C1C1C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8" rIns="64008" tIns="0" bIns="0"/>
          <a:lstStyle/>
          <a:p>
            <a:pPr algn="ctr"/>
            <a:r>
              <a:rPr sz="800" b="1">
                <a:solidFill>
                  <a:srgbClr val="6B6B72"/>
                </a:solidFill>
                <a:latin typeface="Consolas"/>
              </a:rPr>
              <a:t>07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5412" y="2926080"/>
            <a:ext cx="200482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FAFAFA"/>
                </a:solidFill>
                <a:latin typeface="Inter"/>
              </a:rPr>
              <a:t>Execution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86500" y="3236976"/>
            <a:ext cx="2443734" cy="39319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800" b="0">
                <a:solidFill>
                  <a:srgbClr val="A3A3A8"/>
                </a:solidFill>
                <a:latin typeface="Inter"/>
              </a:rPr>
              <a:t>Job queue → sandboxed worker · state QUEUED ▸ RUNNING ▸ SUCCESSFUL / FAILED — the UI never executes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986266" y="2825496"/>
            <a:ext cx="2699766" cy="914400"/>
          </a:xfrm>
          <a:prstGeom prst="roundRect">
            <a:avLst>
              <a:gd name="adj" fmla="val 8000"/>
            </a:avLst>
          </a:prstGeom>
          <a:solidFill>
            <a:srgbClr val="141414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9114282" y="2944368"/>
            <a:ext cx="395020" cy="256032"/>
          </a:xfrm>
          <a:prstGeom prst="roundRect">
            <a:avLst>
              <a:gd name="adj" fmla="val 50000"/>
            </a:avLst>
          </a:prstGeom>
          <a:solidFill>
            <a:srgbClr val="1C1C1C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8" rIns="64008" tIns="0" bIns="0"/>
          <a:lstStyle/>
          <a:p>
            <a:pPr algn="ctr"/>
            <a:r>
              <a:rPr sz="800" b="1">
                <a:solidFill>
                  <a:srgbClr val="6B6B72"/>
                </a:solidFill>
                <a:latin typeface="Consolas"/>
              </a:rPr>
              <a:t>08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553194" y="2926080"/>
            <a:ext cx="200482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FAFAFA"/>
                </a:solidFill>
                <a:latin typeface="Inter"/>
              </a:rPr>
              <a:t>Provision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14282" y="3236976"/>
            <a:ext cx="2443734" cy="39319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800" b="0">
                <a:solidFill>
                  <a:srgbClr val="A3A3A8"/>
                </a:solidFill>
                <a:latin typeface="Inter"/>
              </a:rPr>
              <a:t>Provider-specific execution: compute · storage · network · load balancer on AWS · Azure · GCP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02920" y="3867912"/>
            <a:ext cx="3642329" cy="914400"/>
          </a:xfrm>
          <a:prstGeom prst="roundRect">
            <a:avLst>
              <a:gd name="adj" fmla="val 8000"/>
            </a:avLst>
          </a:prstGeom>
          <a:solidFill>
            <a:srgbClr val="141414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30936" y="3986784"/>
            <a:ext cx="395020" cy="256032"/>
          </a:xfrm>
          <a:prstGeom prst="roundRect">
            <a:avLst>
              <a:gd name="adj" fmla="val 50000"/>
            </a:avLst>
          </a:prstGeom>
          <a:solidFill>
            <a:srgbClr val="1C1C1C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8" rIns="64008" tIns="0" bIns="0"/>
          <a:lstStyle/>
          <a:p>
            <a:pPr algn="ctr"/>
            <a:r>
              <a:rPr sz="800" b="1">
                <a:solidFill>
                  <a:srgbClr val="6B6B72"/>
                </a:solidFill>
                <a:latin typeface="Consolas"/>
              </a:rPr>
              <a:t>09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69848" y="3968496"/>
            <a:ext cx="294738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FAFAFA"/>
                </a:solidFill>
                <a:latin typeface="Inter"/>
              </a:rPr>
              <a:t>Resource management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0936" y="4279392"/>
            <a:ext cx="3386297" cy="39319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800" b="0">
                <a:solidFill>
                  <a:srgbClr val="A3A3A8"/>
                </a:solidFill>
                <a:latin typeface="Inter"/>
              </a:rPr>
              <a:t>Apply registers inventory · dependency graph (LB → web → DB) shows blast radius before change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273265" y="3867912"/>
            <a:ext cx="3642329" cy="914400"/>
          </a:xfrm>
          <a:prstGeom prst="roundRect">
            <a:avLst>
              <a:gd name="adj" fmla="val 8000"/>
            </a:avLst>
          </a:prstGeom>
          <a:solidFill>
            <a:srgbClr val="141414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4401281" y="3986784"/>
            <a:ext cx="395020" cy="256032"/>
          </a:xfrm>
          <a:prstGeom prst="roundRect">
            <a:avLst>
              <a:gd name="adj" fmla="val 50000"/>
            </a:avLst>
          </a:prstGeom>
          <a:solidFill>
            <a:srgbClr val="1C1C1C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8" rIns="64008" tIns="0" bIns="0"/>
          <a:lstStyle/>
          <a:p>
            <a:pPr algn="ctr"/>
            <a:r>
              <a:rPr sz="800" b="1">
                <a:solidFill>
                  <a:srgbClr val="6B6B72"/>
                </a:solidFill>
                <a:latin typeface="Consolas"/>
              </a:rPr>
              <a:t>10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840193" y="3968496"/>
            <a:ext cx="294738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FAFAFA"/>
                </a:solidFill>
                <a:latin typeface="Inter"/>
              </a:rPr>
              <a:t>Monitor &amp; notify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401281" y="4279392"/>
            <a:ext cx="3386297" cy="39319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800" b="0">
                <a:solidFill>
                  <a:srgbClr val="A3A3A8"/>
                </a:solidFill>
                <a:latin typeface="Inter"/>
              </a:rPr>
              <a:t>Health &amp; availability dashboards · alerts on anomalies and pipeline outcomes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043610" y="3867912"/>
            <a:ext cx="3642329" cy="914400"/>
          </a:xfrm>
          <a:prstGeom prst="roundRect">
            <a:avLst>
              <a:gd name="adj" fmla="val 8000"/>
            </a:avLst>
          </a:prstGeom>
          <a:solidFill>
            <a:srgbClr val="141414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8171626" y="3986784"/>
            <a:ext cx="395020" cy="256032"/>
          </a:xfrm>
          <a:prstGeom prst="roundRect">
            <a:avLst>
              <a:gd name="adj" fmla="val 50000"/>
            </a:avLst>
          </a:prstGeom>
          <a:solidFill>
            <a:srgbClr val="1C1C1C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8" rIns="64008" tIns="0" bIns="0"/>
          <a:lstStyle/>
          <a:p>
            <a:pPr algn="ctr"/>
            <a:r>
              <a:rPr sz="800" b="1">
                <a:solidFill>
                  <a:srgbClr val="6B6B72"/>
                </a:solidFill>
                <a:latin typeface="Consolas"/>
              </a:rPr>
              <a:t>11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610538" y="3968496"/>
            <a:ext cx="294738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FAFAFA"/>
                </a:solidFill>
                <a:latin typeface="Inter"/>
              </a:rPr>
              <a:t>Audit &amp; controlled change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171626" y="4279392"/>
            <a:ext cx="3386297" cy="39319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800" b="0">
                <a:solidFill>
                  <a:srgbClr val="A3A3A8"/>
                </a:solidFill>
                <a:latin typeface="Inter"/>
              </a:rPr>
              <a:t>Append-only actor · verb · target · modifications and teardown re-run plan → policy → approve (typed confirm)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02920" y="5047488"/>
            <a:ext cx="11183112" cy="841248"/>
          </a:xfrm>
          <a:prstGeom prst="roundRect">
            <a:avLst>
              <a:gd name="adj" fmla="val 12000"/>
            </a:avLst>
          </a:prstGeom>
          <a:solidFill>
            <a:srgbClr val="1C1C1C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77240" y="5148072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1">
                <a:solidFill>
                  <a:srgbClr val="4AD98A"/>
                </a:solidFill>
                <a:latin typeface="Consolas"/>
              </a:rPr>
              <a:t>COMPLETE CONTROLLED LIFECYCLE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943600" y="5148072"/>
            <a:ext cx="5486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00" b="0">
                <a:solidFill>
                  <a:srgbClr val="6B6B72"/>
                </a:solidFill>
                <a:latin typeface="Consolas"/>
              </a:rPr>
              <a:t>any change loops back: plan → policy → approval → execution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77240" y="5440680"/>
            <a:ext cx="1089964" cy="256032"/>
          </a:xfrm>
          <a:prstGeom prst="roundRect">
            <a:avLst>
              <a:gd name="adj" fmla="val 50000"/>
            </a:avLst>
          </a:prstGeom>
          <a:solidFill>
            <a:srgbClr val="1C1C1C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8" rIns="64008" tIns="0" bIns="0"/>
          <a:lstStyle/>
          <a:p>
            <a:pPr algn="ctr"/>
            <a:r>
              <a:rPr sz="800" b="1">
                <a:solidFill>
                  <a:srgbClr val="FAFAFA"/>
                </a:solidFill>
                <a:latin typeface="Consolas"/>
              </a:rPr>
              <a:t>authenticate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922068" y="5440680"/>
            <a:ext cx="16459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6B6B72"/>
                </a:solidFill>
                <a:latin typeface="Inter"/>
              </a:rPr>
              <a:t>→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2086660" y="5440680"/>
            <a:ext cx="1298448" cy="256032"/>
          </a:xfrm>
          <a:prstGeom prst="roundRect">
            <a:avLst>
              <a:gd name="adj" fmla="val 50000"/>
            </a:avLst>
          </a:prstGeom>
          <a:solidFill>
            <a:srgbClr val="1C1C1C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8" rIns="64008" tIns="0" bIns="0"/>
          <a:lstStyle/>
          <a:p>
            <a:pPr algn="ctr"/>
            <a:r>
              <a:rPr sz="800" b="1">
                <a:solidFill>
                  <a:srgbClr val="A3A3A8"/>
                </a:solidFill>
                <a:latin typeface="Consolas"/>
              </a:rPr>
              <a:t>project · cloud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439972" y="5440680"/>
            <a:ext cx="16459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6B6B72"/>
                </a:solidFill>
                <a:latin typeface="Inter"/>
              </a:rPr>
              <a:t>→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3604564" y="5440680"/>
            <a:ext cx="1576425" cy="256032"/>
          </a:xfrm>
          <a:prstGeom prst="roundRect">
            <a:avLst>
              <a:gd name="adj" fmla="val 50000"/>
            </a:avLst>
          </a:prstGeom>
          <a:solidFill>
            <a:srgbClr val="1C1C1C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8" rIns="64008" tIns="0" bIns="0"/>
          <a:lstStyle/>
          <a:p>
            <a:pPr algn="ctr"/>
            <a:r>
              <a:rPr sz="800" b="1">
                <a:solidFill>
                  <a:srgbClr val="A3A3A8"/>
                </a:solidFill>
                <a:latin typeface="Consolas"/>
              </a:rPr>
              <a:t>template · validate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235853" y="5440680"/>
            <a:ext cx="16459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6B6B72"/>
                </a:solidFill>
                <a:latin typeface="Inter"/>
              </a:rPr>
              <a:t>→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5400445" y="5440680"/>
            <a:ext cx="1228953" cy="256032"/>
          </a:xfrm>
          <a:prstGeom prst="roundRect">
            <a:avLst>
              <a:gd name="adj" fmla="val 50000"/>
            </a:avLst>
          </a:prstGeom>
          <a:solidFill>
            <a:srgbClr val="1C1C1C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8" rIns="64008" tIns="0" bIns="0"/>
          <a:lstStyle/>
          <a:p>
            <a:pPr algn="ctr"/>
            <a:r>
              <a:rPr sz="800" b="1">
                <a:solidFill>
                  <a:srgbClr val="A3A3A8"/>
                </a:solidFill>
                <a:latin typeface="Consolas"/>
              </a:rPr>
              <a:t>plan · approve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684262" y="5440680"/>
            <a:ext cx="16459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6B6B72"/>
                </a:solidFill>
                <a:latin typeface="Inter"/>
              </a:rPr>
              <a:t>→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848854" y="5440680"/>
            <a:ext cx="1645920" cy="256032"/>
          </a:xfrm>
          <a:prstGeom prst="roundRect">
            <a:avLst>
              <a:gd name="adj" fmla="val 50000"/>
            </a:avLst>
          </a:prstGeom>
          <a:solidFill>
            <a:srgbClr val="1C1C1C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8" rIns="64008" tIns="0" bIns="0"/>
          <a:lstStyle/>
          <a:p>
            <a:pPr algn="ctr"/>
            <a:r>
              <a:rPr sz="800" b="1">
                <a:solidFill>
                  <a:srgbClr val="A3A3A8"/>
                </a:solidFill>
                <a:latin typeface="Consolas"/>
              </a:rPr>
              <a:t>provision · register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549638" y="5440680"/>
            <a:ext cx="16459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6B6B72"/>
                </a:solidFill>
                <a:latin typeface="Inter"/>
              </a:rPr>
              <a:t>→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8714230" y="5440680"/>
            <a:ext cx="742492" cy="256032"/>
          </a:xfrm>
          <a:prstGeom prst="roundRect">
            <a:avLst>
              <a:gd name="adj" fmla="val 50000"/>
            </a:avLst>
          </a:prstGeom>
          <a:solidFill>
            <a:srgbClr val="1C1C1C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8" rIns="64008" tIns="0" bIns="0"/>
          <a:lstStyle/>
          <a:p>
            <a:pPr algn="ctr"/>
            <a:r>
              <a:rPr sz="800" b="1">
                <a:solidFill>
                  <a:srgbClr val="A3A3A8"/>
                </a:solidFill>
                <a:latin typeface="Consolas"/>
              </a:rPr>
              <a:t>monitor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511586" y="5440680"/>
            <a:ext cx="16459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6B6B72"/>
                </a:solidFill>
                <a:latin typeface="Inter"/>
              </a:rPr>
              <a:t>→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9676178" y="5440680"/>
            <a:ext cx="1923897" cy="256032"/>
          </a:xfrm>
          <a:prstGeom prst="roundRect">
            <a:avLst>
              <a:gd name="adj" fmla="val 50000"/>
            </a:avLst>
          </a:prstGeom>
          <a:solidFill>
            <a:srgbClr val="1C1C1C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8" rIns="64008" tIns="0" bIns="0"/>
          <a:lstStyle/>
          <a:p>
            <a:pPr algn="ctr"/>
            <a:r>
              <a:rPr sz="800" b="1">
                <a:solidFill>
                  <a:srgbClr val="FAFAFA"/>
                </a:solidFill>
                <a:latin typeface="Consolas"/>
              </a:rPr>
              <a:t>audit · modify · destroy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02920" y="6016752"/>
            <a:ext cx="111831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A3A3A8"/>
                </a:solidFill>
                <a:latin typeface="Inter"/>
              </a:rPr>
              <a:t>Authorized users safely plan, approve, deploy, monitor, and destroy reusable multi-cloud infrastructure — one governed lifecycle.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502920" y="6419088"/>
            <a:ext cx="192755" cy="192755"/>
          </a:xfrm>
          <a:prstGeom prst="roundRect">
            <a:avLst>
              <a:gd name="adj" fmla="val 2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Donut 70"/>
          <p:cNvSpPr/>
          <p:nvPr/>
        </p:nvSpPr>
        <p:spPr>
          <a:xfrm>
            <a:off x="545439" y="6461607"/>
            <a:ext cx="107716" cy="107716"/>
          </a:xfrm>
          <a:prstGeom prst="donut">
            <a:avLst>
              <a:gd name="adj" fmla="val 30000"/>
            </a:avLst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619140" y="6461607"/>
            <a:ext cx="42519" cy="4251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575486" y="6491654"/>
            <a:ext cx="47621" cy="47621"/>
          </a:xfrm>
          <a:prstGeom prst="ellips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960120" y="6455664"/>
            <a:ext cx="3657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1">
                <a:solidFill>
                  <a:srgbClr val="6B6B72"/>
                </a:solidFill>
                <a:latin typeface="Inter"/>
              </a:rPr>
              <a:t>cloudweave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789920" y="6455664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6B6B72"/>
                </a:solidFill>
                <a:latin typeface="Consola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57200"/>
            <a:ext cx="310896" cy="310896"/>
          </a:xfrm>
          <a:prstGeom prst="roundRect">
            <a:avLst>
              <a:gd name="adj" fmla="val 2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onut 3"/>
          <p:cNvSpPr/>
          <p:nvPr/>
        </p:nvSpPr>
        <p:spPr>
          <a:xfrm>
            <a:off x="571500" y="525780"/>
            <a:ext cx="173736" cy="173736"/>
          </a:xfrm>
          <a:prstGeom prst="donut">
            <a:avLst>
              <a:gd name="adj" fmla="val 30000"/>
            </a:avLst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90372" y="525780"/>
            <a:ext cx="68580" cy="685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19963" y="574243"/>
            <a:ext cx="76809" cy="76809"/>
          </a:xfrm>
          <a:prstGeom prst="ellips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" y="566928"/>
            <a:ext cx="105613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FAFAFA"/>
                </a:solidFill>
                <a:latin typeface="Inter"/>
              </a:rPr>
              <a:t>Beyond the MVPs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78992" y="1298448"/>
            <a:ext cx="2377440" cy="274320"/>
          </a:xfrm>
          <a:prstGeom prst="roundRect">
            <a:avLst>
              <a:gd name="adj" fmla="val 50000"/>
            </a:avLst>
          </a:prstGeom>
          <a:solidFill>
            <a:srgbClr val="1C1C1C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/>
            <a:r>
              <a:rPr sz="950" b="1">
                <a:solidFill>
                  <a:srgbClr val="A3A3A8"/>
                </a:solidFill>
                <a:latin typeface="Consolas"/>
              </a:rPr>
              <a:t>EXTRAS THAT MAKE IT A PRODUCT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74519"/>
            <a:ext cx="5486400" cy="969264"/>
          </a:xfrm>
          <a:prstGeom prst="roundRect">
            <a:avLst>
              <a:gd name="adj" fmla="val 10000"/>
            </a:avLst>
          </a:prstGeom>
          <a:solidFill>
            <a:srgbClr val="141414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2376" y="2002535"/>
            <a:ext cx="504748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FAFAFA"/>
                </a:solidFill>
                <a:latin typeface="Inter"/>
              </a:rPr>
              <a:t>Immutable audit log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" y="2331719"/>
            <a:ext cx="504748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80" b="0">
                <a:solidFill>
                  <a:srgbClr val="A3A3A8"/>
                </a:solidFill>
                <a:latin typeface="Inter"/>
              </a:rPr>
              <a:t>Append-only; actor + verb + target on every action, incl. policy verdicts and approvals.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2" y="1874519"/>
            <a:ext cx="5486400" cy="969264"/>
          </a:xfrm>
          <a:prstGeom prst="roundRect">
            <a:avLst>
              <a:gd name="adj" fmla="val 10000"/>
            </a:avLst>
          </a:prstGeom>
          <a:solidFill>
            <a:srgbClr val="141414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9088" y="2002535"/>
            <a:ext cx="504748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FAFAFA"/>
                </a:solidFill>
                <a:latin typeface="Inter"/>
              </a:rPr>
              <a:t>Typed destruction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088" y="2331719"/>
            <a:ext cx="504748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80" b="0">
                <a:solidFill>
                  <a:srgbClr val="A3A3A8"/>
                </a:solidFill>
                <a:latin typeface="Inter"/>
              </a:rPr>
              <a:t>Destructive ops require typed confirmation; teardown keeps inventory &amp; cost truthful.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971799"/>
            <a:ext cx="5486400" cy="969264"/>
          </a:xfrm>
          <a:prstGeom prst="roundRect">
            <a:avLst>
              <a:gd name="adj" fmla="val 10000"/>
            </a:avLst>
          </a:prstGeom>
          <a:solidFill>
            <a:srgbClr val="141414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2376" y="3099815"/>
            <a:ext cx="504748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FAFAFA"/>
                </a:solidFill>
                <a:latin typeface="Inter"/>
              </a:rPr>
              <a:t>Cost optimization advisor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" y="3428999"/>
            <a:ext cx="504748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80" b="0">
                <a:solidFill>
                  <a:srgbClr val="A3A3A8"/>
                </a:solidFill>
                <a:latin typeface="Inter"/>
              </a:rPr>
              <a:t>4 deterministic rules with steps and projected savings — explainable, testable.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9632" y="2971799"/>
            <a:ext cx="5486400" cy="969264"/>
          </a:xfrm>
          <a:prstGeom prst="roundRect">
            <a:avLst>
              <a:gd name="adj" fmla="val 10000"/>
            </a:avLst>
          </a:prstGeom>
          <a:solidFill>
            <a:srgbClr val="141414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19088" y="3099815"/>
            <a:ext cx="504748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FAFAFA"/>
                </a:solidFill>
                <a:latin typeface="Inter"/>
              </a:rPr>
              <a:t>Command palette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088" y="3428999"/>
            <a:ext cx="504748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80" b="0">
                <a:solidFill>
                  <a:srgbClr val="A3A3A8"/>
                </a:solidFill>
                <a:latin typeface="Inter"/>
              </a:rPr>
              <a:t>Ctrl+K navigation across every platform section; keyboard-first operations.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4069079"/>
            <a:ext cx="5486400" cy="969264"/>
          </a:xfrm>
          <a:prstGeom prst="roundRect">
            <a:avLst>
              <a:gd name="adj" fmla="val 10000"/>
            </a:avLst>
          </a:prstGeom>
          <a:solidFill>
            <a:srgbClr val="141414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2376" y="4197095"/>
            <a:ext cx="504748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FAFAFA"/>
                </a:solidFill>
                <a:latin typeface="Inter"/>
              </a:rPr>
              <a:t>Notifications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" y="4526279"/>
            <a:ext cx="504748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80" b="0">
                <a:solidFill>
                  <a:srgbClr val="A3A3A8"/>
                </a:solidFill>
                <a:latin typeface="Inter"/>
              </a:rPr>
              <a:t>In-app alerts on approval requests and pipeline outcomes.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99632" y="4069079"/>
            <a:ext cx="5486400" cy="969264"/>
          </a:xfrm>
          <a:prstGeom prst="roundRect">
            <a:avLst>
              <a:gd name="adj" fmla="val 10000"/>
            </a:avLst>
          </a:prstGeom>
          <a:solidFill>
            <a:srgbClr val="141414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19088" y="4197095"/>
            <a:ext cx="504748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FAFAFA"/>
                </a:solidFill>
                <a:latin typeface="Inter"/>
              </a:rPr>
              <a:t>Portability export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19088" y="4526279"/>
            <a:ext cx="504748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80" b="0">
                <a:solidFill>
                  <a:srgbClr val="A3A3A8"/>
                </a:solidFill>
                <a:latin typeface="Inter"/>
              </a:rPr>
              <a:t>Export designs and deployments as portable Terraform — no lock-in.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5166359"/>
            <a:ext cx="5486400" cy="969264"/>
          </a:xfrm>
          <a:prstGeom prst="roundRect">
            <a:avLst>
              <a:gd name="adj" fmla="val 10000"/>
            </a:avLst>
          </a:prstGeom>
          <a:solidFill>
            <a:srgbClr val="141414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22376" y="5294375"/>
            <a:ext cx="504748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FAFAFA"/>
                </a:solidFill>
                <a:latin typeface="Inter"/>
              </a:rPr>
              <a:t>Brand system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2376" y="5623559"/>
            <a:ext cx="504748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80" b="0">
                <a:solidFill>
                  <a:srgbClr val="A3A3A8"/>
                </a:solidFill>
                <a:latin typeface="Inter"/>
              </a:rPr>
              <a:t>Dark monochrome language, custom SVG favicon, landing page mirroring the real product.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99632" y="5166359"/>
            <a:ext cx="5486400" cy="969264"/>
          </a:xfrm>
          <a:prstGeom prst="roundRect">
            <a:avLst>
              <a:gd name="adj" fmla="val 10000"/>
            </a:avLst>
          </a:prstGeom>
          <a:solidFill>
            <a:srgbClr val="141414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19088" y="5294375"/>
            <a:ext cx="504748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FAFAFA"/>
                </a:solidFill>
                <a:latin typeface="Inter"/>
              </a:rPr>
              <a:t>Test discipline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19088" y="5623559"/>
            <a:ext cx="5047488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80" b="0">
                <a:solidFill>
                  <a:srgbClr val="A3A3A8"/>
                </a:solidFill>
                <a:latin typeface="Inter"/>
              </a:rPr>
              <a:t>251 backend tests: unit + route + worker + policy + crypto + template sync.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2920" y="6419088"/>
            <a:ext cx="192755" cy="192755"/>
          </a:xfrm>
          <a:prstGeom prst="roundRect">
            <a:avLst>
              <a:gd name="adj" fmla="val 2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Donut 33"/>
          <p:cNvSpPr/>
          <p:nvPr/>
        </p:nvSpPr>
        <p:spPr>
          <a:xfrm>
            <a:off x="545439" y="6461607"/>
            <a:ext cx="107716" cy="107716"/>
          </a:xfrm>
          <a:prstGeom prst="donut">
            <a:avLst>
              <a:gd name="adj" fmla="val 30000"/>
            </a:avLst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19140" y="6461607"/>
            <a:ext cx="42519" cy="4251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75486" y="6491654"/>
            <a:ext cx="47621" cy="47621"/>
          </a:xfrm>
          <a:prstGeom prst="ellips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60120" y="6455664"/>
            <a:ext cx="3657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1">
                <a:solidFill>
                  <a:srgbClr val="6B6B72"/>
                </a:solidFill>
                <a:latin typeface="Inter"/>
              </a:rPr>
              <a:t>cloudweave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789920" y="6455664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6B6B72"/>
                </a:solidFill>
                <a:latin typeface="Consola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57200"/>
            <a:ext cx="310896" cy="310896"/>
          </a:xfrm>
          <a:prstGeom prst="roundRect">
            <a:avLst>
              <a:gd name="adj" fmla="val 2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onut 3"/>
          <p:cNvSpPr/>
          <p:nvPr/>
        </p:nvSpPr>
        <p:spPr>
          <a:xfrm>
            <a:off x="571500" y="525780"/>
            <a:ext cx="173736" cy="173736"/>
          </a:xfrm>
          <a:prstGeom prst="donut">
            <a:avLst>
              <a:gd name="adj" fmla="val 30000"/>
            </a:avLst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90372" y="525780"/>
            <a:ext cx="68580" cy="685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19963" y="574243"/>
            <a:ext cx="76809" cy="76809"/>
          </a:xfrm>
          <a:prstGeom prst="ellips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" y="566928"/>
            <a:ext cx="105613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FAFAFA"/>
                </a:solidFill>
                <a:latin typeface="Inter"/>
              </a:rPr>
              <a:t>Future scope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78992" y="1298448"/>
            <a:ext cx="2377440" cy="274320"/>
          </a:xfrm>
          <a:prstGeom prst="roundRect">
            <a:avLst>
              <a:gd name="adj" fmla="val 50000"/>
            </a:avLst>
          </a:prstGeom>
          <a:solidFill>
            <a:srgbClr val="1C1C1C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/>
            <a:r>
              <a:rPr sz="950" b="1">
                <a:solidFill>
                  <a:srgbClr val="A3A3A8"/>
                </a:solidFill>
                <a:latin typeface="Consolas"/>
              </a:rPr>
              <a:t>WHERE THE PLATFORM GOES NEXT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74519"/>
            <a:ext cx="5486400" cy="1170432"/>
          </a:xfrm>
          <a:prstGeom prst="roundRect">
            <a:avLst>
              <a:gd name="adj" fmla="val 10000"/>
            </a:avLst>
          </a:prstGeom>
          <a:solidFill>
            <a:srgbClr val="141414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2376" y="2020823"/>
            <a:ext cx="42976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FAFAFA"/>
                </a:solidFill>
                <a:latin typeface="Inter"/>
              </a:rPr>
              <a:t>Live provider execution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56632" y="2039111"/>
            <a:ext cx="586130" cy="256032"/>
          </a:xfrm>
          <a:prstGeom prst="roundRect">
            <a:avLst>
              <a:gd name="adj" fmla="val 50000"/>
            </a:avLst>
          </a:prstGeom>
          <a:solidFill>
            <a:srgbClr val="1C1C1C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8" rIns="64008" tIns="0" bIns="0"/>
          <a:lstStyle/>
          <a:p>
            <a:pPr algn="ctr"/>
            <a:r>
              <a:rPr sz="950" b="1">
                <a:solidFill>
                  <a:srgbClr val="4AD98A"/>
                </a:solidFill>
                <a:latin typeface="Consolas"/>
              </a:rPr>
              <a:t>NEXT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" y="2386583"/>
            <a:ext cx="5047488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>
                <a:solidFill>
                  <a:srgbClr val="A3A3A8"/>
                </a:solidFill>
                <a:latin typeface="Inter"/>
              </a:rPr>
              <a:t>Swap the sandboxed simulation runner for real terraform runs behind the same runner interface — zero pipeline or policy changes.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1874519"/>
            <a:ext cx="5486400" cy="1170432"/>
          </a:xfrm>
          <a:prstGeom prst="roundRect">
            <a:avLst>
              <a:gd name="adj" fmla="val 10000"/>
            </a:avLst>
          </a:prstGeom>
          <a:solidFill>
            <a:srgbClr val="141414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2020823"/>
            <a:ext cx="42976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FAFAFA"/>
                </a:solidFill>
                <a:latin typeface="Inter"/>
              </a:rPr>
              <a:t>Durable execution queue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753344" y="2039111"/>
            <a:ext cx="586130" cy="256032"/>
          </a:xfrm>
          <a:prstGeom prst="roundRect">
            <a:avLst>
              <a:gd name="adj" fmla="val 50000"/>
            </a:avLst>
          </a:prstGeom>
          <a:solidFill>
            <a:srgbClr val="1C1C1C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8" rIns="64008" tIns="0" bIns="0"/>
          <a:lstStyle/>
          <a:p>
            <a:pPr algn="ctr"/>
            <a:r>
              <a:rPr sz="950" b="1">
                <a:solidFill>
                  <a:srgbClr val="4AD98A"/>
                </a:solidFill>
                <a:latin typeface="Consolas"/>
              </a:rPr>
              <a:t>NEXT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2386583"/>
            <a:ext cx="5047488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>
                <a:solidFill>
                  <a:srgbClr val="A3A3A8"/>
                </a:solidFill>
                <a:latin typeface="Inter"/>
              </a:rPr>
              <a:t>RabbitMQ-backed jobs with retries and dead-lettering so in-flight deployments survive restarts; scale-out to multiple workers.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191255"/>
            <a:ext cx="5486400" cy="1170432"/>
          </a:xfrm>
          <a:prstGeom prst="roundRect">
            <a:avLst>
              <a:gd name="adj" fmla="val 10000"/>
            </a:avLst>
          </a:prstGeom>
          <a:solidFill>
            <a:srgbClr val="141414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2376" y="3337559"/>
            <a:ext cx="42976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FAFAFA"/>
                </a:solidFill>
                <a:latin typeface="Inter"/>
              </a:rPr>
              <a:t>Drift detection &amp; alerting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56632" y="3355847"/>
            <a:ext cx="586130" cy="256032"/>
          </a:xfrm>
          <a:prstGeom prst="roundRect">
            <a:avLst>
              <a:gd name="adj" fmla="val 50000"/>
            </a:avLst>
          </a:prstGeom>
          <a:solidFill>
            <a:srgbClr val="1C1C1C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8" rIns="64008" tIns="0" bIns="0"/>
          <a:lstStyle/>
          <a:p>
            <a:pPr algn="ctr"/>
            <a:r>
              <a:rPr sz="950" b="1">
                <a:solidFill>
                  <a:srgbClr val="4AD98A"/>
                </a:solidFill>
                <a:latin typeface="Consolas"/>
              </a:rPr>
              <a:t>NEXT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" y="3703319"/>
            <a:ext cx="5047488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>
                <a:solidFill>
                  <a:srgbClr val="A3A3A8"/>
                </a:solidFill>
                <a:latin typeface="Inter"/>
              </a:rPr>
              <a:t>Scheduled plan-vs-state reconciliation flags out-of-band console changes and opens a governed remediation path.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9632" y="3191255"/>
            <a:ext cx="5486400" cy="1170432"/>
          </a:xfrm>
          <a:prstGeom prst="roundRect">
            <a:avLst>
              <a:gd name="adj" fmla="val 10000"/>
            </a:avLst>
          </a:prstGeom>
          <a:solidFill>
            <a:srgbClr val="141414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19088" y="3337559"/>
            <a:ext cx="42976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FAFAFA"/>
                </a:solidFill>
                <a:latin typeface="Inter"/>
              </a:rPr>
              <a:t>Live pricing &amp; budgets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753344" y="3355847"/>
            <a:ext cx="668655" cy="256032"/>
          </a:xfrm>
          <a:prstGeom prst="roundRect">
            <a:avLst>
              <a:gd name="adj" fmla="val 50000"/>
            </a:avLst>
          </a:prstGeom>
          <a:solidFill>
            <a:srgbClr val="1C1C1C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8" rIns="64008" tIns="0" bIns="0"/>
          <a:lstStyle/>
          <a:p>
            <a:pPr algn="ctr"/>
            <a:r>
              <a:rPr sz="950" b="1">
                <a:solidFill>
                  <a:srgbClr val="6B6B72"/>
                </a:solidFill>
                <a:latin typeface="Consolas"/>
              </a:rPr>
              <a:t>LATER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9088" y="3703319"/>
            <a:ext cx="5047488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>
                <a:solidFill>
                  <a:srgbClr val="A3A3A8"/>
                </a:solidFill>
                <a:latin typeface="Inter"/>
              </a:rPr>
              <a:t>Provider pricing APIs and usage telemetry replace the offline rate card — actuals, forecasts, and budget alerts.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4507991"/>
            <a:ext cx="5486400" cy="1170432"/>
          </a:xfrm>
          <a:prstGeom prst="roundRect">
            <a:avLst>
              <a:gd name="adj" fmla="val 10000"/>
            </a:avLst>
          </a:prstGeom>
          <a:solidFill>
            <a:srgbClr val="141414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2376" y="4654295"/>
            <a:ext cx="42976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FAFAFA"/>
                </a:solidFill>
                <a:latin typeface="Inter"/>
              </a:rPr>
              <a:t>SSO &amp; team collaboration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56632" y="4672583"/>
            <a:ext cx="668655" cy="256032"/>
          </a:xfrm>
          <a:prstGeom prst="roundRect">
            <a:avLst>
              <a:gd name="adj" fmla="val 50000"/>
            </a:avLst>
          </a:prstGeom>
          <a:solidFill>
            <a:srgbClr val="1C1C1C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8" rIns="64008" tIns="0" bIns="0"/>
          <a:lstStyle/>
          <a:p>
            <a:pPr algn="ctr"/>
            <a:r>
              <a:rPr sz="950" b="1">
                <a:solidFill>
                  <a:srgbClr val="6B6B72"/>
                </a:solidFill>
                <a:latin typeface="Consolas"/>
              </a:rPr>
              <a:t>LATER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2376" y="5020055"/>
            <a:ext cx="5047488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>
                <a:solidFill>
                  <a:srgbClr val="A3A3A8"/>
                </a:solidFill>
                <a:latin typeface="Inter"/>
              </a:rPr>
              <a:t>OIDC sign-in, per-project fine-grained roles, and multi-user designer sessions with live presence.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99632" y="4507991"/>
            <a:ext cx="5486400" cy="1170432"/>
          </a:xfrm>
          <a:prstGeom prst="roundRect">
            <a:avLst>
              <a:gd name="adj" fmla="val 10000"/>
            </a:avLst>
          </a:prstGeom>
          <a:solidFill>
            <a:srgbClr val="141414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19088" y="4654295"/>
            <a:ext cx="42976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FAFAFA"/>
                </a:solidFill>
                <a:latin typeface="Inter"/>
              </a:rPr>
              <a:t>GitOps workflow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753344" y="4672583"/>
            <a:ext cx="668655" cy="256032"/>
          </a:xfrm>
          <a:prstGeom prst="roundRect">
            <a:avLst>
              <a:gd name="adj" fmla="val 50000"/>
            </a:avLst>
          </a:prstGeom>
          <a:solidFill>
            <a:srgbClr val="1C1C1C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8" rIns="64008" tIns="0" bIns="0"/>
          <a:lstStyle/>
          <a:p>
            <a:pPr algn="ctr"/>
            <a:r>
              <a:rPr sz="950" b="1">
                <a:solidFill>
                  <a:srgbClr val="6B6B72"/>
                </a:solidFill>
                <a:latin typeface="Consolas"/>
              </a:rPr>
              <a:t>LATER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19088" y="5020055"/>
            <a:ext cx="5047488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>
                <a:solidFill>
                  <a:srgbClr val="A3A3A8"/>
                </a:solidFill>
                <a:latin typeface="Inter"/>
              </a:rPr>
              <a:t>Push generated modules to Git; plan-on-PR comments and review gates ride the existing approval pipeline.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2920" y="6419088"/>
            <a:ext cx="192755" cy="192755"/>
          </a:xfrm>
          <a:prstGeom prst="roundRect">
            <a:avLst>
              <a:gd name="adj" fmla="val 2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Donut 33"/>
          <p:cNvSpPr/>
          <p:nvPr/>
        </p:nvSpPr>
        <p:spPr>
          <a:xfrm>
            <a:off x="545439" y="6461607"/>
            <a:ext cx="107716" cy="107716"/>
          </a:xfrm>
          <a:prstGeom prst="donut">
            <a:avLst>
              <a:gd name="adj" fmla="val 30000"/>
            </a:avLst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19140" y="6461607"/>
            <a:ext cx="42519" cy="4251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75486" y="6491654"/>
            <a:ext cx="47621" cy="47621"/>
          </a:xfrm>
          <a:prstGeom prst="ellips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60120" y="6455664"/>
            <a:ext cx="3657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1">
                <a:solidFill>
                  <a:srgbClr val="6B6B72"/>
                </a:solidFill>
                <a:latin typeface="Inter"/>
              </a:rPr>
              <a:t>cloudweave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789920" y="6455664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6B6B72"/>
                </a:solidFill>
                <a:latin typeface="Consola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57200"/>
            <a:ext cx="310896" cy="310896"/>
          </a:xfrm>
          <a:prstGeom prst="roundRect">
            <a:avLst>
              <a:gd name="adj" fmla="val 2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onut 3"/>
          <p:cNvSpPr/>
          <p:nvPr/>
        </p:nvSpPr>
        <p:spPr>
          <a:xfrm>
            <a:off x="571500" y="525780"/>
            <a:ext cx="173736" cy="173736"/>
          </a:xfrm>
          <a:prstGeom prst="donut">
            <a:avLst>
              <a:gd name="adj" fmla="val 30000"/>
            </a:avLst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90372" y="525780"/>
            <a:ext cx="68580" cy="685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19963" y="574243"/>
            <a:ext cx="76809" cy="76809"/>
          </a:xfrm>
          <a:prstGeom prst="ellips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3544" y="438912"/>
            <a:ext cx="23774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FAFAFA"/>
                </a:solidFill>
                <a:latin typeface="Inter"/>
              </a:rPr>
              <a:t>cloudweave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148840"/>
            <a:ext cx="111556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4000" b="1">
                <a:solidFill>
                  <a:srgbClr val="FAFAFA"/>
                </a:solidFill>
                <a:latin typeface="Inter"/>
              </a:rPr>
              <a:t>Make the safe path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4000" b="1">
                <a:solidFill>
                  <a:srgbClr val="FAFAFA"/>
                </a:solidFill>
                <a:latin typeface="Inter"/>
              </a:rPr>
              <a:t>the easy path.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749039"/>
            <a:ext cx="9601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500" b="0">
                <a:solidFill>
                  <a:srgbClr val="A3A3A8"/>
                </a:solidFill>
                <a:latin typeface="Inter"/>
              </a:rPr>
              <a:t>Five MVPs prove the chain: </a:t>
            </a:r>
            <a:r>
              <a:rPr sz="1500" b="1">
                <a:solidFill>
                  <a:srgbClr val="FAFAFA"/>
                </a:solidFill>
                <a:latin typeface="Inter"/>
              </a:rPr>
              <a:t>govern → template → design → pipeline → operate.</a:t>
            </a:r>
            <a:r>
              <a:rPr sz="1500" b="0">
                <a:solidFill>
                  <a:srgbClr val="A3A3A8"/>
                </a:solidFill>
                <a:latin typeface="Inter"/>
              </a:rPr>
              <a:t>  Multi-cloud stops being three consoles and becomes one product.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4892040"/>
            <a:ext cx="998753" cy="256032"/>
          </a:xfrm>
          <a:prstGeom prst="roundRect">
            <a:avLst>
              <a:gd name="adj" fmla="val 50000"/>
            </a:avLst>
          </a:prstGeom>
          <a:solidFill>
            <a:srgbClr val="1C1C1C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8" rIns="64008" tIns="0" bIns="0"/>
          <a:lstStyle/>
          <a:p>
            <a:pPr algn="ctr"/>
            <a:r>
              <a:rPr sz="950" b="1">
                <a:solidFill>
                  <a:srgbClr val="FAFAFA"/>
                </a:solidFill>
                <a:latin typeface="Consolas"/>
              </a:rPr>
              <a:t>Thank you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775993" y="4892040"/>
            <a:ext cx="1658950" cy="256032"/>
          </a:xfrm>
          <a:prstGeom prst="roundRect">
            <a:avLst>
              <a:gd name="adj" fmla="val 50000"/>
            </a:avLst>
          </a:prstGeom>
          <a:solidFill>
            <a:srgbClr val="1C1C1C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8" rIns="64008" tIns="0" bIns="0"/>
          <a:lstStyle/>
          <a:p>
            <a:pPr algn="ctr"/>
            <a:r>
              <a:rPr sz="950" b="1">
                <a:solidFill>
                  <a:srgbClr val="A3A3A8"/>
                </a:solidFill>
                <a:latin typeface="Consolas"/>
              </a:rPr>
              <a:t>Questions welcome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6419088"/>
            <a:ext cx="192755" cy="192755"/>
          </a:xfrm>
          <a:prstGeom prst="roundRect">
            <a:avLst>
              <a:gd name="adj" fmla="val 2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onut 12"/>
          <p:cNvSpPr/>
          <p:nvPr/>
        </p:nvSpPr>
        <p:spPr>
          <a:xfrm>
            <a:off x="545439" y="6461607"/>
            <a:ext cx="107716" cy="107716"/>
          </a:xfrm>
          <a:prstGeom prst="donut">
            <a:avLst>
              <a:gd name="adj" fmla="val 30000"/>
            </a:avLst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19140" y="6461607"/>
            <a:ext cx="42519" cy="4251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75486" y="6491654"/>
            <a:ext cx="47621" cy="47621"/>
          </a:xfrm>
          <a:prstGeom prst="ellips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6455664"/>
            <a:ext cx="3657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1">
                <a:solidFill>
                  <a:srgbClr val="6B6B72"/>
                </a:solidFill>
                <a:latin typeface="Inter"/>
              </a:rPr>
              <a:t>cloudweave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0" y="6455664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6B6B72"/>
                </a:solidFill>
                <a:latin typeface="Consolas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